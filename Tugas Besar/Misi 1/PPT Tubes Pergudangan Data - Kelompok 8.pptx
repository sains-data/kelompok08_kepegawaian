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8288000" cy="10287000"/>
  <p:notesSz cx="6858000" cy="9144000"/>
  <p:embeddedFontLst>
    <p:embeddedFont>
      <p:font typeface="Archivo Black" charset="1" panose="020B0A03020202020B04"/>
      <p:regular r:id="rId57"/>
    </p:embeddedFont>
    <p:embeddedFont>
      <p:font typeface="Garet" charset="1" panose="00000000000000000000"/>
      <p:regular r:id="rId58"/>
    </p:embeddedFont>
    <p:embeddedFont>
      <p:font typeface="Garet Bold" charset="1" panose="00000000000000000000"/>
      <p:regular r:id="rId59"/>
    </p:embeddedFont>
    <p:embeddedFont>
      <p:font typeface="Garet Italics" charset="1" panose="00000000000000000000"/>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jpeg" Type="http://schemas.openxmlformats.org/officeDocument/2006/relationships/image"/><Relationship Id="rId6"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6.png" Type="http://schemas.openxmlformats.org/officeDocument/2006/relationships/image"/><Relationship Id="rId14" Target="../media/image7.svg" Type="http://schemas.openxmlformats.org/officeDocument/2006/relationships/image"/><Relationship Id="rId15" Target="../media/image1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6.png" Type="http://schemas.openxmlformats.org/officeDocument/2006/relationships/image"/><Relationship Id="rId14" Target="../media/image7.svg" Type="http://schemas.openxmlformats.org/officeDocument/2006/relationships/image"/><Relationship Id="rId15" Target="../media/image2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2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6.png" Type="http://schemas.openxmlformats.org/officeDocument/2006/relationships/image"/><Relationship Id="rId14" Target="../media/image7.svg" Type="http://schemas.openxmlformats.org/officeDocument/2006/relationships/image"/><Relationship Id="rId15" Target="../media/image23.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3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6.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png" Type="http://schemas.openxmlformats.org/officeDocument/2006/relationships/image"/><Relationship Id="rId13" Target="../media/image3.svg" Type="http://schemas.openxmlformats.org/officeDocument/2006/relationships/image"/><Relationship Id="rId14" Target="../media/image6.png" Type="http://schemas.openxmlformats.org/officeDocument/2006/relationships/image"/><Relationship Id="rId15" Target="../media/image7.svg" Type="http://schemas.openxmlformats.org/officeDocument/2006/relationships/image"/><Relationship Id="rId2" Target="../media/image1.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37.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jpeg" Type="http://schemas.openxmlformats.org/officeDocument/2006/relationships/image"/><Relationship Id="rId3" Target="../media/image38.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jpeg" Type="http://schemas.openxmlformats.org/officeDocument/2006/relationships/image"/><Relationship Id="rId3" Target="../media/image39.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885470" y="6394076"/>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KEPEGAWAIAN</a:t>
            </a:r>
          </a:p>
        </p:txBody>
      </p:sp>
      <p:sp>
        <p:nvSpPr>
          <p:cNvPr name="TextBox 5" id="5"/>
          <p:cNvSpPr txBox="true"/>
          <p:nvPr/>
        </p:nvSpPr>
        <p:spPr>
          <a:xfrm rot="0">
            <a:off x="12088760" y="954405"/>
            <a:ext cx="5170540" cy="3657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Kelompok 8</a:t>
            </a:r>
          </a:p>
        </p:txBody>
      </p:sp>
      <p:sp>
        <p:nvSpPr>
          <p:cNvPr name="TextBox 6" id="6"/>
          <p:cNvSpPr txBox="true"/>
          <p:nvPr/>
        </p:nvSpPr>
        <p:spPr>
          <a:xfrm rot="0">
            <a:off x="6485854" y="3950633"/>
            <a:ext cx="11281751" cy="2304638"/>
          </a:xfrm>
          <a:prstGeom prst="rect">
            <a:avLst/>
          </a:prstGeom>
        </p:spPr>
        <p:txBody>
          <a:bodyPr anchor="t" rtlCol="false" tIns="0" lIns="0" bIns="0" rIns="0">
            <a:spAutoFit/>
          </a:bodyPr>
          <a:lstStyle/>
          <a:p>
            <a:pPr algn="r">
              <a:lnSpc>
                <a:spcPts val="8490"/>
              </a:lnSpc>
            </a:pPr>
            <a:r>
              <a:rPr lang="en-US" sz="10885" spc="-859">
                <a:solidFill>
                  <a:srgbClr val="000000"/>
                </a:solidFill>
                <a:latin typeface="Archivo Black"/>
                <a:ea typeface="Archivo Black"/>
                <a:cs typeface="Archivo Black"/>
                <a:sym typeface="Archivo Black"/>
              </a:rPr>
              <a:t>PERGUDANGAN</a:t>
            </a:r>
          </a:p>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DATA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032474" y="1198840"/>
          <a:ext cx="6511183" cy="8210550"/>
        </p:xfrm>
        <a:graphic>
          <a:graphicData uri="http://schemas.openxmlformats.org/drawingml/2006/table">
            <a:tbl>
              <a:tblPr/>
              <a:tblGrid>
                <a:gridCol w="866395"/>
                <a:gridCol w="5025021"/>
              </a:tblGrid>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Business Requirements Analysis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 Source Identification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Design Konseptual - ERD</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Desain Logikal - Dimensional Model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 Dictionary</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ETL Arsitektur</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Dokumen Teknis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 Quality</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Perfomance Test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Hasil Deployment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KEPEGAWAIAN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727738" y="495300"/>
            <a:ext cx="7107183" cy="1019176"/>
          </a:xfrm>
          <a:prstGeom prst="rect">
            <a:avLst/>
          </a:prstGeom>
        </p:spPr>
        <p:txBody>
          <a:bodyPr anchor="t" rtlCol="false" tIns="0" lIns="0" bIns="0" rIns="0">
            <a:spAutoFit/>
          </a:bodyPr>
          <a:lstStyle/>
          <a:p>
            <a:pPr algn="l">
              <a:lnSpc>
                <a:spcPts val="4199"/>
              </a:lnSpc>
            </a:pPr>
            <a:r>
              <a:rPr lang="en-US" sz="2999" b="true">
                <a:solidFill>
                  <a:srgbClr val="000000"/>
                </a:solidFill>
                <a:latin typeface="Garet Bold"/>
                <a:ea typeface="Garet Bold"/>
                <a:cs typeface="Garet Bold"/>
                <a:sym typeface="Garet Bold"/>
              </a:rPr>
              <a:t>Business Requirements Analysis</a:t>
            </a:r>
          </a:p>
          <a:p>
            <a:pPr algn="l">
              <a:lnSpc>
                <a:spcPts val="4199"/>
              </a:lnSpc>
            </a:pPr>
          </a:p>
        </p:txBody>
      </p:sp>
      <p:sp>
        <p:nvSpPr>
          <p:cNvPr name="TextBox 4" id="4"/>
          <p:cNvSpPr txBox="true"/>
          <p:nvPr/>
        </p:nvSpPr>
        <p:spPr>
          <a:xfrm rot="0">
            <a:off x="1026232" y="495300"/>
            <a:ext cx="467670" cy="495301"/>
          </a:xfrm>
          <a:prstGeom prst="rect">
            <a:avLst/>
          </a:prstGeom>
        </p:spPr>
        <p:txBody>
          <a:bodyPr anchor="t" rtlCol="false" tIns="0" lIns="0" bIns="0" rIns="0">
            <a:spAutoFit/>
          </a:bodyPr>
          <a:lstStyle/>
          <a:p>
            <a:pPr algn="r">
              <a:lnSpc>
                <a:spcPts val="4199"/>
              </a:lnSpc>
            </a:pPr>
            <a:r>
              <a:rPr lang="en-US" b="true" sz="2999">
                <a:solidFill>
                  <a:srgbClr val="000000"/>
                </a:solidFill>
                <a:latin typeface="Garet Bold"/>
                <a:ea typeface="Garet Bold"/>
                <a:cs typeface="Garet Bold"/>
                <a:sym typeface="Garet Bold"/>
              </a:rPr>
              <a:t>01</a:t>
            </a:r>
          </a:p>
        </p:txBody>
      </p:sp>
      <p:sp>
        <p:nvSpPr>
          <p:cNvPr name="TextBox 5" id="5"/>
          <p:cNvSpPr txBox="true"/>
          <p:nvPr/>
        </p:nvSpPr>
        <p:spPr>
          <a:xfrm rot="0">
            <a:off x="2036817" y="1297305"/>
            <a:ext cx="5492739" cy="396240"/>
          </a:xfrm>
          <a:prstGeom prst="rect">
            <a:avLst/>
          </a:prstGeom>
        </p:spPr>
        <p:txBody>
          <a:bodyPr anchor="t" rtlCol="false" tIns="0" lIns="0" bIns="0" rIns="0">
            <a:spAutoFit/>
          </a:bodyPr>
          <a:lstStyle/>
          <a:p>
            <a:pPr algn="l">
              <a:lnSpc>
                <a:spcPts val="3359"/>
              </a:lnSpc>
            </a:pPr>
            <a:r>
              <a:rPr lang="en-US" sz="2399">
                <a:solidFill>
                  <a:srgbClr val="000000"/>
                </a:solidFill>
                <a:latin typeface="Garet"/>
                <a:ea typeface="Garet"/>
                <a:cs typeface="Garet"/>
                <a:sym typeface="Garet"/>
              </a:rPr>
              <a:t>Identifikasi Stakeholders</a:t>
            </a:r>
          </a:p>
        </p:txBody>
      </p:sp>
      <p:grpSp>
        <p:nvGrpSpPr>
          <p:cNvPr name="Group 6" id="6"/>
          <p:cNvGrpSpPr/>
          <p:nvPr/>
        </p:nvGrpSpPr>
        <p:grpSpPr>
          <a:xfrm rot="0">
            <a:off x="2036817" y="2145701"/>
            <a:ext cx="10189831" cy="5916935"/>
            <a:chOff x="0" y="0"/>
            <a:chExt cx="13586442" cy="7889246"/>
          </a:xfrm>
        </p:grpSpPr>
        <p:sp>
          <p:nvSpPr>
            <p:cNvPr name="TextBox 7" id="7"/>
            <p:cNvSpPr txBox="true"/>
            <p:nvPr/>
          </p:nvSpPr>
          <p:spPr>
            <a:xfrm rot="0">
              <a:off x="0" y="-66675"/>
              <a:ext cx="13586442" cy="4266700"/>
            </a:xfrm>
            <a:prstGeom prst="rect">
              <a:avLst/>
            </a:prstGeom>
          </p:spPr>
          <p:txBody>
            <a:bodyPr anchor="t" rtlCol="false" tIns="0" lIns="0" bIns="0" rIns="0">
              <a:spAutoFit/>
            </a:bodyPr>
            <a:lstStyle/>
            <a:p>
              <a:pPr algn="l">
                <a:lnSpc>
                  <a:spcPts val="4934"/>
                </a:lnSpc>
              </a:pPr>
              <a:r>
                <a:rPr lang="en-US" sz="3524">
                  <a:solidFill>
                    <a:srgbClr val="000000"/>
                  </a:solidFill>
                  <a:latin typeface="Garet"/>
                  <a:ea typeface="Garet"/>
                  <a:cs typeface="Garet"/>
                  <a:sym typeface="Garet"/>
                </a:rPr>
                <a:t>Primary Stakeholders</a:t>
              </a:r>
            </a:p>
            <a:p>
              <a:pPr algn="l" marL="761001" indent="-380501" lvl="1">
                <a:lnSpc>
                  <a:spcPts val="4934"/>
                </a:lnSpc>
                <a:buFont typeface="Arial"/>
                <a:buChar char="•"/>
              </a:pPr>
              <a:r>
                <a:rPr lang="en-US" sz="3524">
                  <a:solidFill>
                    <a:srgbClr val="000000"/>
                  </a:solidFill>
                  <a:latin typeface="Garet"/>
                  <a:ea typeface="Garet"/>
                  <a:cs typeface="Garet"/>
                  <a:sym typeface="Garet"/>
                </a:rPr>
                <a:t>Kepala Bagian Kepegawaian</a:t>
              </a:r>
            </a:p>
            <a:p>
              <a:pPr algn="l" marL="761001" indent="-380501" lvl="1">
                <a:lnSpc>
                  <a:spcPts val="4934"/>
                </a:lnSpc>
                <a:buFont typeface="Arial"/>
                <a:buChar char="•"/>
              </a:pPr>
              <a:r>
                <a:rPr lang="en-US" sz="3524">
                  <a:solidFill>
                    <a:srgbClr val="000000"/>
                  </a:solidFill>
                  <a:latin typeface="Garet"/>
                  <a:ea typeface="Garet"/>
                  <a:cs typeface="Garet"/>
                  <a:sym typeface="Garet"/>
                </a:rPr>
                <a:t>Staff Kepegawaian</a:t>
              </a:r>
            </a:p>
            <a:p>
              <a:pPr algn="l" marL="761001" indent="-380501" lvl="1">
                <a:lnSpc>
                  <a:spcPts val="4934"/>
                </a:lnSpc>
                <a:buFont typeface="Arial"/>
                <a:buChar char="•"/>
              </a:pPr>
              <a:r>
                <a:rPr lang="en-US" sz="3524">
                  <a:solidFill>
                    <a:srgbClr val="000000"/>
                  </a:solidFill>
                  <a:latin typeface="Garet"/>
                  <a:ea typeface="Garet"/>
                  <a:cs typeface="Garet"/>
                  <a:sym typeface="Garet"/>
                </a:rPr>
                <a:t>Rektor dan Wakil Rektor</a:t>
              </a:r>
            </a:p>
            <a:p>
              <a:pPr algn="l">
                <a:lnSpc>
                  <a:spcPts val="6233"/>
                </a:lnSpc>
              </a:pPr>
            </a:p>
          </p:txBody>
        </p:sp>
        <p:sp>
          <p:nvSpPr>
            <p:cNvPr name="TextBox 8" id="8"/>
            <p:cNvSpPr txBox="true"/>
            <p:nvPr/>
          </p:nvSpPr>
          <p:spPr>
            <a:xfrm rot="0">
              <a:off x="0" y="3622546"/>
              <a:ext cx="13586442" cy="4266700"/>
            </a:xfrm>
            <a:prstGeom prst="rect">
              <a:avLst/>
            </a:prstGeom>
          </p:spPr>
          <p:txBody>
            <a:bodyPr anchor="t" rtlCol="false" tIns="0" lIns="0" bIns="0" rIns="0">
              <a:spAutoFit/>
            </a:bodyPr>
            <a:lstStyle/>
            <a:p>
              <a:pPr algn="l">
                <a:lnSpc>
                  <a:spcPts val="4934"/>
                </a:lnSpc>
              </a:pPr>
              <a:r>
                <a:rPr lang="en-US" sz="3524">
                  <a:solidFill>
                    <a:srgbClr val="000000"/>
                  </a:solidFill>
                  <a:latin typeface="Garet"/>
                  <a:ea typeface="Garet"/>
                  <a:cs typeface="Garet"/>
                  <a:sym typeface="Garet"/>
                </a:rPr>
                <a:t>Secondary Stakeholders</a:t>
              </a:r>
            </a:p>
            <a:p>
              <a:pPr algn="l" marL="761001" indent="-380501" lvl="1">
                <a:lnSpc>
                  <a:spcPts val="4934"/>
                </a:lnSpc>
                <a:buFont typeface="Arial"/>
                <a:buChar char="•"/>
              </a:pPr>
              <a:r>
                <a:rPr lang="en-US" sz="3524">
                  <a:solidFill>
                    <a:srgbClr val="000000"/>
                  </a:solidFill>
                  <a:latin typeface="Garet"/>
                  <a:ea typeface="Garet"/>
                  <a:cs typeface="Garet"/>
                  <a:sym typeface="Garet"/>
                </a:rPr>
                <a:t>Kepala Fakultas</a:t>
              </a:r>
            </a:p>
            <a:p>
              <a:pPr algn="l" marL="761001" indent="-380501" lvl="1">
                <a:lnSpc>
                  <a:spcPts val="4934"/>
                </a:lnSpc>
                <a:buFont typeface="Arial"/>
                <a:buChar char="•"/>
              </a:pPr>
              <a:r>
                <a:rPr lang="en-US" sz="3524">
                  <a:solidFill>
                    <a:srgbClr val="000000"/>
                  </a:solidFill>
                  <a:latin typeface="Garet"/>
                  <a:ea typeface="Garet"/>
                  <a:cs typeface="Garet"/>
                  <a:sym typeface="Garet"/>
                </a:rPr>
                <a:t>Bagian Keuangan</a:t>
              </a:r>
            </a:p>
            <a:p>
              <a:pPr algn="l" marL="761001" indent="-380501" lvl="1">
                <a:lnSpc>
                  <a:spcPts val="4934"/>
                </a:lnSpc>
                <a:buFont typeface="Arial"/>
                <a:buChar char="•"/>
              </a:pPr>
              <a:r>
                <a:rPr lang="en-US" sz="3524">
                  <a:solidFill>
                    <a:srgbClr val="000000"/>
                  </a:solidFill>
                  <a:latin typeface="Garet"/>
                  <a:ea typeface="Garet"/>
                  <a:cs typeface="Garet"/>
                  <a:sym typeface="Garet"/>
                </a:rPr>
                <a:t>B</a:t>
              </a:r>
              <a:r>
                <a:rPr lang="en-US" sz="3524">
                  <a:solidFill>
                    <a:srgbClr val="000000"/>
                  </a:solidFill>
                  <a:latin typeface="Garet"/>
                  <a:ea typeface="Garet"/>
                  <a:cs typeface="Garet"/>
                  <a:sym typeface="Garet"/>
                </a:rPr>
                <a:t>agian Perencanaan</a:t>
              </a:r>
            </a:p>
            <a:p>
              <a:pPr algn="l">
                <a:lnSpc>
                  <a:spcPts val="6233"/>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727738" y="495300"/>
            <a:ext cx="7107183" cy="1019176"/>
          </a:xfrm>
          <a:prstGeom prst="rect">
            <a:avLst/>
          </a:prstGeom>
        </p:spPr>
        <p:txBody>
          <a:bodyPr anchor="t" rtlCol="false" tIns="0" lIns="0" bIns="0" rIns="0">
            <a:spAutoFit/>
          </a:bodyPr>
          <a:lstStyle/>
          <a:p>
            <a:pPr algn="l">
              <a:lnSpc>
                <a:spcPts val="4199"/>
              </a:lnSpc>
            </a:pPr>
            <a:r>
              <a:rPr lang="en-US" sz="2999" b="true">
                <a:solidFill>
                  <a:srgbClr val="000000"/>
                </a:solidFill>
                <a:latin typeface="Garet Bold"/>
                <a:ea typeface="Garet Bold"/>
                <a:cs typeface="Garet Bold"/>
                <a:sym typeface="Garet Bold"/>
              </a:rPr>
              <a:t>Business Requirements Analysis</a:t>
            </a:r>
          </a:p>
          <a:p>
            <a:pPr algn="l">
              <a:lnSpc>
                <a:spcPts val="4199"/>
              </a:lnSpc>
            </a:pPr>
          </a:p>
        </p:txBody>
      </p:sp>
      <p:sp>
        <p:nvSpPr>
          <p:cNvPr name="TextBox 4" id="4"/>
          <p:cNvSpPr txBox="true"/>
          <p:nvPr/>
        </p:nvSpPr>
        <p:spPr>
          <a:xfrm rot="0">
            <a:off x="1026232" y="495300"/>
            <a:ext cx="467670" cy="495301"/>
          </a:xfrm>
          <a:prstGeom prst="rect">
            <a:avLst/>
          </a:prstGeom>
        </p:spPr>
        <p:txBody>
          <a:bodyPr anchor="t" rtlCol="false" tIns="0" lIns="0" bIns="0" rIns="0">
            <a:spAutoFit/>
          </a:bodyPr>
          <a:lstStyle/>
          <a:p>
            <a:pPr algn="r">
              <a:lnSpc>
                <a:spcPts val="4199"/>
              </a:lnSpc>
            </a:pPr>
            <a:r>
              <a:rPr lang="en-US" b="true" sz="2999">
                <a:solidFill>
                  <a:srgbClr val="000000"/>
                </a:solidFill>
                <a:latin typeface="Garet Bold"/>
                <a:ea typeface="Garet Bold"/>
                <a:cs typeface="Garet Bold"/>
                <a:sym typeface="Garet Bold"/>
              </a:rPr>
              <a:t>01</a:t>
            </a:r>
          </a:p>
        </p:txBody>
      </p:sp>
      <p:sp>
        <p:nvSpPr>
          <p:cNvPr name="TextBox 5" id="5"/>
          <p:cNvSpPr txBox="true"/>
          <p:nvPr/>
        </p:nvSpPr>
        <p:spPr>
          <a:xfrm rot="0">
            <a:off x="1727738" y="1476375"/>
            <a:ext cx="5492739" cy="815340"/>
          </a:xfrm>
          <a:prstGeom prst="rect">
            <a:avLst/>
          </a:prstGeom>
        </p:spPr>
        <p:txBody>
          <a:bodyPr anchor="t" rtlCol="false" tIns="0" lIns="0" bIns="0" rIns="0">
            <a:spAutoFit/>
          </a:bodyPr>
          <a:lstStyle/>
          <a:p>
            <a:pPr algn="l">
              <a:lnSpc>
                <a:spcPts val="3359"/>
              </a:lnSpc>
            </a:pPr>
            <a:r>
              <a:rPr lang="en-US" sz="2399">
                <a:solidFill>
                  <a:srgbClr val="000000"/>
                </a:solidFill>
                <a:latin typeface="Garet"/>
                <a:ea typeface="Garet"/>
                <a:cs typeface="Garet"/>
                <a:sym typeface="Garet"/>
              </a:rPr>
              <a:t>Analisis Proses Bisnis</a:t>
            </a:r>
          </a:p>
          <a:p>
            <a:pPr algn="l">
              <a:lnSpc>
                <a:spcPts val="3359"/>
              </a:lnSpc>
            </a:pPr>
          </a:p>
        </p:txBody>
      </p:sp>
      <p:sp>
        <p:nvSpPr>
          <p:cNvPr name="TextBox 6" id="6"/>
          <p:cNvSpPr txBox="true"/>
          <p:nvPr/>
        </p:nvSpPr>
        <p:spPr>
          <a:xfrm rot="0">
            <a:off x="1727738" y="2118521"/>
            <a:ext cx="10067002" cy="7300080"/>
          </a:xfrm>
          <a:prstGeom prst="rect">
            <a:avLst/>
          </a:prstGeom>
        </p:spPr>
        <p:txBody>
          <a:bodyPr anchor="t" rtlCol="false" tIns="0" lIns="0" bIns="0" rIns="0">
            <a:spAutoFit/>
          </a:bodyPr>
          <a:lstStyle/>
          <a:p>
            <a:pPr algn="l">
              <a:lnSpc>
                <a:spcPts val="3595"/>
              </a:lnSpc>
            </a:pPr>
            <a:r>
              <a:rPr lang="en-US" sz="2568">
                <a:solidFill>
                  <a:srgbClr val="000000"/>
                </a:solidFill>
                <a:latin typeface="Garet"/>
                <a:ea typeface="Garet"/>
                <a:cs typeface="Garet"/>
                <a:sym typeface="Garet"/>
              </a:rPr>
              <a:t>Manajemen Data Pegawai</a:t>
            </a:r>
          </a:p>
          <a:p>
            <a:pPr algn="l" marL="554515" indent="-277258" lvl="1">
              <a:lnSpc>
                <a:spcPts val="3595"/>
              </a:lnSpc>
              <a:buFont typeface="Arial"/>
              <a:buChar char="•"/>
            </a:pPr>
            <a:r>
              <a:rPr lang="en-US" sz="2568">
                <a:solidFill>
                  <a:srgbClr val="000000"/>
                </a:solidFill>
                <a:latin typeface="Garet"/>
                <a:ea typeface="Garet"/>
                <a:cs typeface="Garet"/>
                <a:sym typeface="Garet"/>
              </a:rPr>
              <a:t>Pengelolaan data pegawai (Dosen/Tendik)</a:t>
            </a:r>
          </a:p>
          <a:p>
            <a:pPr algn="l" marL="554515" indent="-277258" lvl="1">
              <a:lnSpc>
                <a:spcPts val="3595"/>
              </a:lnSpc>
              <a:buFont typeface="Arial"/>
              <a:buChar char="•"/>
            </a:pPr>
            <a:r>
              <a:rPr lang="en-US" sz="2568">
                <a:solidFill>
                  <a:srgbClr val="000000"/>
                </a:solidFill>
                <a:latin typeface="Garet"/>
                <a:ea typeface="Garet"/>
                <a:cs typeface="Garet"/>
                <a:sym typeface="Garet"/>
              </a:rPr>
              <a:t>Pengelolaan status pegawai (PNS, PPPK, Dosen Tetap, Tendik)</a:t>
            </a:r>
          </a:p>
          <a:p>
            <a:pPr algn="l" marL="554515" indent="-277258" lvl="1">
              <a:lnSpc>
                <a:spcPts val="3595"/>
              </a:lnSpc>
              <a:buFont typeface="Arial"/>
              <a:buChar char="•"/>
            </a:pPr>
            <a:r>
              <a:rPr lang="en-US" sz="2568">
                <a:solidFill>
                  <a:srgbClr val="000000"/>
                </a:solidFill>
                <a:latin typeface="Garet"/>
                <a:ea typeface="Garet"/>
                <a:cs typeface="Garet"/>
                <a:sym typeface="Garet"/>
              </a:rPr>
              <a:t>Update data pegawai</a:t>
            </a:r>
          </a:p>
          <a:p>
            <a:pPr algn="l">
              <a:lnSpc>
                <a:spcPts val="3595"/>
              </a:lnSpc>
            </a:pPr>
          </a:p>
          <a:p>
            <a:pPr algn="l">
              <a:lnSpc>
                <a:spcPts val="3595"/>
              </a:lnSpc>
            </a:pPr>
            <a:r>
              <a:rPr lang="en-US" sz="2568">
                <a:solidFill>
                  <a:srgbClr val="000000"/>
                </a:solidFill>
                <a:latin typeface="Garet"/>
                <a:ea typeface="Garet"/>
                <a:cs typeface="Garet"/>
                <a:sym typeface="Garet"/>
              </a:rPr>
              <a:t>Rekrutmen dan Seleksi</a:t>
            </a:r>
          </a:p>
          <a:p>
            <a:pPr algn="l" marL="554515" indent="-277258" lvl="1">
              <a:lnSpc>
                <a:spcPts val="3595"/>
              </a:lnSpc>
              <a:buFont typeface="Arial"/>
              <a:buChar char="•"/>
            </a:pPr>
            <a:r>
              <a:rPr lang="en-US" sz="2568">
                <a:solidFill>
                  <a:srgbClr val="000000"/>
                </a:solidFill>
                <a:latin typeface="Garet"/>
                <a:ea typeface="Garet"/>
                <a:cs typeface="Garet"/>
                <a:sym typeface="Garet"/>
              </a:rPr>
              <a:t>Proses rekrutmen pegawai (CPNS, PPPK, Kontrak)</a:t>
            </a:r>
          </a:p>
          <a:p>
            <a:pPr algn="l" marL="554515" indent="-277258" lvl="1">
              <a:lnSpc>
                <a:spcPts val="3595"/>
              </a:lnSpc>
              <a:buFont typeface="Arial"/>
              <a:buChar char="•"/>
            </a:pPr>
            <a:r>
              <a:rPr lang="en-US" sz="2568">
                <a:solidFill>
                  <a:srgbClr val="000000"/>
                </a:solidFill>
                <a:latin typeface="Garet"/>
                <a:ea typeface="Garet"/>
                <a:cs typeface="Garet"/>
                <a:sym typeface="Garet"/>
              </a:rPr>
              <a:t>Seleksi JPT (Jabatan Pimpinan Tinggi)</a:t>
            </a:r>
          </a:p>
          <a:p>
            <a:pPr algn="l" marL="554515" indent="-277258" lvl="1">
              <a:lnSpc>
                <a:spcPts val="3595"/>
              </a:lnSpc>
              <a:buFont typeface="Arial"/>
              <a:buChar char="•"/>
            </a:pPr>
            <a:r>
              <a:rPr lang="en-US" sz="2568">
                <a:solidFill>
                  <a:srgbClr val="000000"/>
                </a:solidFill>
                <a:latin typeface="Garet"/>
                <a:ea typeface="Garet"/>
                <a:cs typeface="Garet"/>
                <a:sym typeface="Garet"/>
              </a:rPr>
              <a:t>Tracking seleksi calon pegawai</a:t>
            </a:r>
          </a:p>
          <a:p>
            <a:pPr algn="l">
              <a:lnSpc>
                <a:spcPts val="3595"/>
              </a:lnSpc>
            </a:pPr>
          </a:p>
          <a:p>
            <a:pPr algn="l">
              <a:lnSpc>
                <a:spcPts val="3595"/>
              </a:lnSpc>
            </a:pPr>
            <a:r>
              <a:rPr lang="en-US" sz="2568">
                <a:solidFill>
                  <a:srgbClr val="000000"/>
                </a:solidFill>
                <a:latin typeface="Garet"/>
                <a:ea typeface="Garet"/>
                <a:cs typeface="Garet"/>
                <a:sym typeface="Garet"/>
              </a:rPr>
              <a:t>Karir dan Pengembangan</a:t>
            </a:r>
          </a:p>
          <a:p>
            <a:pPr algn="l" marL="554515" indent="-277258" lvl="1">
              <a:lnSpc>
                <a:spcPts val="3595"/>
              </a:lnSpc>
              <a:buFont typeface="Arial"/>
              <a:buChar char="•"/>
            </a:pPr>
            <a:r>
              <a:rPr lang="en-US" sz="2568">
                <a:solidFill>
                  <a:srgbClr val="000000"/>
                </a:solidFill>
                <a:latin typeface="Garet"/>
                <a:ea typeface="Garet"/>
                <a:cs typeface="Garet"/>
                <a:sym typeface="Garet"/>
              </a:rPr>
              <a:t>Promosi dan kenaikan jaba</a:t>
            </a:r>
            <a:r>
              <a:rPr lang="en-US" sz="2568">
                <a:solidFill>
                  <a:srgbClr val="000000"/>
                </a:solidFill>
                <a:latin typeface="Garet"/>
                <a:ea typeface="Garet"/>
                <a:cs typeface="Garet"/>
                <a:sym typeface="Garet"/>
              </a:rPr>
              <a:t>tan</a:t>
            </a:r>
          </a:p>
          <a:p>
            <a:pPr algn="l" marL="554515" indent="-277258" lvl="1">
              <a:lnSpc>
                <a:spcPts val="3595"/>
              </a:lnSpc>
              <a:buFont typeface="Arial"/>
              <a:buChar char="•"/>
            </a:pPr>
            <a:r>
              <a:rPr lang="en-US" sz="2568">
                <a:solidFill>
                  <a:srgbClr val="000000"/>
                </a:solidFill>
                <a:latin typeface="Garet"/>
                <a:ea typeface="Garet"/>
                <a:cs typeface="Garet"/>
                <a:sym typeface="Garet"/>
              </a:rPr>
              <a:t>Pendidikan dan pelatihan (diklat)</a:t>
            </a:r>
          </a:p>
          <a:p>
            <a:pPr algn="l" marL="554515" indent="-277258" lvl="1">
              <a:lnSpc>
                <a:spcPts val="3595"/>
              </a:lnSpc>
              <a:buFont typeface="Arial"/>
              <a:buChar char="•"/>
            </a:pPr>
            <a:r>
              <a:rPr lang="en-US" sz="2568">
                <a:solidFill>
                  <a:srgbClr val="000000"/>
                </a:solidFill>
                <a:latin typeface="Garet"/>
                <a:ea typeface="Garet"/>
                <a:cs typeface="Garet"/>
                <a:sym typeface="Garet"/>
              </a:rPr>
              <a:t>Sertifikasi dan kompetensi</a:t>
            </a:r>
          </a:p>
          <a:p>
            <a:pPr algn="l">
              <a:lnSpc>
                <a:spcPts val="454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727738" y="495300"/>
            <a:ext cx="7107183" cy="1019176"/>
          </a:xfrm>
          <a:prstGeom prst="rect">
            <a:avLst/>
          </a:prstGeom>
        </p:spPr>
        <p:txBody>
          <a:bodyPr anchor="t" rtlCol="false" tIns="0" lIns="0" bIns="0" rIns="0">
            <a:spAutoFit/>
          </a:bodyPr>
          <a:lstStyle/>
          <a:p>
            <a:pPr algn="l">
              <a:lnSpc>
                <a:spcPts val="4199"/>
              </a:lnSpc>
            </a:pPr>
            <a:r>
              <a:rPr lang="en-US" sz="2999" b="true">
                <a:solidFill>
                  <a:srgbClr val="000000"/>
                </a:solidFill>
                <a:latin typeface="Garet Bold"/>
                <a:ea typeface="Garet Bold"/>
                <a:cs typeface="Garet Bold"/>
                <a:sym typeface="Garet Bold"/>
              </a:rPr>
              <a:t>Business Requirements Analysis</a:t>
            </a:r>
          </a:p>
          <a:p>
            <a:pPr algn="l">
              <a:lnSpc>
                <a:spcPts val="4199"/>
              </a:lnSpc>
            </a:pPr>
          </a:p>
        </p:txBody>
      </p:sp>
      <p:sp>
        <p:nvSpPr>
          <p:cNvPr name="TextBox 4" id="4"/>
          <p:cNvSpPr txBox="true"/>
          <p:nvPr/>
        </p:nvSpPr>
        <p:spPr>
          <a:xfrm rot="0">
            <a:off x="1026232" y="495300"/>
            <a:ext cx="467670" cy="495301"/>
          </a:xfrm>
          <a:prstGeom prst="rect">
            <a:avLst/>
          </a:prstGeom>
        </p:spPr>
        <p:txBody>
          <a:bodyPr anchor="t" rtlCol="false" tIns="0" lIns="0" bIns="0" rIns="0">
            <a:spAutoFit/>
          </a:bodyPr>
          <a:lstStyle/>
          <a:p>
            <a:pPr algn="r">
              <a:lnSpc>
                <a:spcPts val="4199"/>
              </a:lnSpc>
            </a:pPr>
            <a:r>
              <a:rPr lang="en-US" b="true" sz="2999">
                <a:solidFill>
                  <a:srgbClr val="000000"/>
                </a:solidFill>
                <a:latin typeface="Garet Bold"/>
                <a:ea typeface="Garet Bold"/>
                <a:cs typeface="Garet Bold"/>
                <a:sym typeface="Garet Bold"/>
              </a:rPr>
              <a:t>01</a:t>
            </a:r>
          </a:p>
        </p:txBody>
      </p:sp>
      <p:sp>
        <p:nvSpPr>
          <p:cNvPr name="TextBox 5" id="5"/>
          <p:cNvSpPr txBox="true"/>
          <p:nvPr/>
        </p:nvSpPr>
        <p:spPr>
          <a:xfrm rot="0">
            <a:off x="1727738" y="1476375"/>
            <a:ext cx="6309927" cy="396240"/>
          </a:xfrm>
          <a:prstGeom prst="rect">
            <a:avLst/>
          </a:prstGeom>
        </p:spPr>
        <p:txBody>
          <a:bodyPr anchor="t" rtlCol="false" tIns="0" lIns="0" bIns="0" rIns="0">
            <a:spAutoFit/>
          </a:bodyPr>
          <a:lstStyle/>
          <a:p>
            <a:pPr algn="l">
              <a:lnSpc>
                <a:spcPts val="3359"/>
              </a:lnSpc>
            </a:pPr>
            <a:r>
              <a:rPr lang="en-US" sz="2399">
                <a:solidFill>
                  <a:srgbClr val="000000"/>
                </a:solidFill>
                <a:latin typeface="Garet"/>
                <a:ea typeface="Garet"/>
                <a:cs typeface="Garet"/>
                <a:sym typeface="Garet"/>
              </a:rPr>
              <a:t>Kebutuhan Analitik (Identifikasi KPI)</a:t>
            </a:r>
          </a:p>
        </p:txBody>
      </p:sp>
      <p:sp>
        <p:nvSpPr>
          <p:cNvPr name="TextBox 6" id="6"/>
          <p:cNvSpPr txBox="true"/>
          <p:nvPr/>
        </p:nvSpPr>
        <p:spPr>
          <a:xfrm rot="0">
            <a:off x="1727738" y="2128046"/>
            <a:ext cx="13082672" cy="7380710"/>
          </a:xfrm>
          <a:prstGeom prst="rect">
            <a:avLst/>
          </a:prstGeom>
        </p:spPr>
        <p:txBody>
          <a:bodyPr anchor="t" rtlCol="false" tIns="0" lIns="0" bIns="0" rIns="0">
            <a:spAutoFit/>
          </a:bodyPr>
          <a:lstStyle/>
          <a:p>
            <a:pPr algn="l" marL="507436" indent="-253718" lvl="1">
              <a:lnSpc>
                <a:spcPts val="3290"/>
              </a:lnSpc>
              <a:buAutoNum type="arabicPeriod" startAt="1"/>
            </a:pPr>
            <a:r>
              <a:rPr lang="en-US" sz="2350">
                <a:solidFill>
                  <a:srgbClr val="000000"/>
                </a:solidFill>
                <a:latin typeface="Garet"/>
                <a:ea typeface="Garet"/>
                <a:cs typeface="Garet"/>
                <a:sym typeface="Garet"/>
              </a:rPr>
              <a:t>Strategic KPIs: Fact_Employee_Snapshot</a:t>
            </a:r>
          </a:p>
          <a:p>
            <a:pPr algn="l" marL="1014873" indent="-338291" lvl="2">
              <a:lnSpc>
                <a:spcPts val="3290"/>
              </a:lnSpc>
              <a:buAutoNum type="alphaLcPeriod" startAt="1"/>
            </a:pPr>
            <a:r>
              <a:rPr lang="en-US" sz="2350">
                <a:solidFill>
                  <a:srgbClr val="000000"/>
                </a:solidFill>
                <a:latin typeface="Garet"/>
                <a:ea typeface="Garet"/>
                <a:cs typeface="Garet"/>
                <a:sym typeface="Garet"/>
              </a:rPr>
              <a:t>Total Headcount: Jumlah total pegawai aktif</a:t>
            </a:r>
          </a:p>
          <a:p>
            <a:pPr algn="l" marL="1014873" indent="-338291" lvl="2">
              <a:lnSpc>
                <a:spcPts val="3290"/>
              </a:lnSpc>
              <a:buAutoNum type="alphaLcPeriod" startAt="1"/>
            </a:pPr>
            <a:r>
              <a:rPr lang="en-US" sz="2350">
                <a:solidFill>
                  <a:srgbClr val="000000"/>
                </a:solidFill>
                <a:latin typeface="Garet"/>
                <a:ea typeface="Garet"/>
                <a:cs typeface="Garet"/>
                <a:sym typeface="Garet"/>
              </a:rPr>
              <a:t>Employee Turnover Rate: Persentase pegawai keluar vs total pegawai</a:t>
            </a:r>
          </a:p>
          <a:p>
            <a:pPr algn="l" marL="1014873" indent="-338291" lvl="2">
              <a:lnSpc>
                <a:spcPts val="3290"/>
              </a:lnSpc>
              <a:buAutoNum type="alphaLcPeriod" startAt="1"/>
            </a:pPr>
            <a:r>
              <a:rPr lang="en-US" sz="2350">
                <a:solidFill>
                  <a:srgbClr val="000000"/>
                </a:solidFill>
                <a:latin typeface="Garet"/>
                <a:ea typeface="Garet"/>
                <a:cs typeface="Garet"/>
                <a:sym typeface="Garet"/>
              </a:rPr>
              <a:t>Recruitment Eﬃciency: Waktu rata-rata proses rekrutmen</a:t>
            </a:r>
          </a:p>
          <a:p>
            <a:pPr algn="l" marL="1014873" indent="-338291" lvl="2">
              <a:lnSpc>
                <a:spcPts val="3290"/>
              </a:lnSpc>
              <a:buAutoNum type="alphaLcPeriod" startAt="1"/>
            </a:pPr>
            <a:r>
              <a:rPr lang="en-US" sz="2350">
                <a:solidFill>
                  <a:srgbClr val="000000"/>
                </a:solidFill>
                <a:latin typeface="Garet"/>
                <a:ea typeface="Garet"/>
                <a:cs typeface="Garet"/>
                <a:sym typeface="Garet"/>
              </a:rPr>
              <a:t>Training Hours per Employee: Rata-rata jam pelatihan per pegawai per tahun</a:t>
            </a:r>
          </a:p>
          <a:p>
            <a:pPr algn="l" marL="1014873" indent="-338291" lvl="2">
              <a:lnSpc>
                <a:spcPts val="3290"/>
              </a:lnSpc>
              <a:buAutoNum type="alphaLcPeriod" startAt="1"/>
            </a:pPr>
            <a:r>
              <a:rPr lang="en-US" sz="2350">
                <a:solidFill>
                  <a:srgbClr val="000000"/>
                </a:solidFill>
                <a:latin typeface="Garet"/>
                <a:ea typeface="Garet"/>
                <a:cs typeface="Garet"/>
                <a:sym typeface="Garet"/>
              </a:rPr>
              <a:t>Average Tenure : Masa kerja rata-rata</a:t>
            </a:r>
          </a:p>
          <a:p>
            <a:pPr algn="l" marL="507436" indent="-253718" lvl="1">
              <a:lnSpc>
                <a:spcPts val="3290"/>
              </a:lnSpc>
              <a:buAutoNum type="arabicPeriod" startAt="1"/>
            </a:pPr>
            <a:r>
              <a:rPr lang="en-US" sz="2350">
                <a:solidFill>
                  <a:srgbClr val="000000"/>
                </a:solidFill>
                <a:latin typeface="Garet"/>
                <a:ea typeface="Garet"/>
                <a:cs typeface="Garet"/>
                <a:sym typeface="Garet"/>
              </a:rPr>
              <a:t> Pegawai Operational KPIs: Fact_Attendance</a:t>
            </a:r>
          </a:p>
          <a:p>
            <a:pPr algn="l" marL="1014873" indent="-338291" lvl="2">
              <a:lnSpc>
                <a:spcPts val="3290"/>
              </a:lnSpc>
              <a:buAutoNum type="alphaLcPeriod" startAt="1"/>
            </a:pPr>
            <a:r>
              <a:rPr lang="en-US" sz="2350">
                <a:solidFill>
                  <a:srgbClr val="000000"/>
                </a:solidFill>
                <a:latin typeface="Garet"/>
                <a:ea typeface="Garet"/>
                <a:cs typeface="Garet"/>
                <a:sym typeface="Garet"/>
              </a:rPr>
              <a:t>Absenteeism Rate: Tingkat ketidakhadiran pegawai</a:t>
            </a:r>
          </a:p>
          <a:p>
            <a:pPr algn="l" marL="1014873" indent="-338291" lvl="2">
              <a:lnSpc>
                <a:spcPts val="3290"/>
              </a:lnSpc>
              <a:buAutoNum type="alphaLcPeriod" startAt="1"/>
            </a:pPr>
            <a:r>
              <a:rPr lang="en-US" sz="2350">
                <a:solidFill>
                  <a:srgbClr val="000000"/>
                </a:solidFill>
                <a:latin typeface="Garet"/>
                <a:ea typeface="Garet"/>
                <a:cs typeface="Garet"/>
                <a:sym typeface="Garet"/>
              </a:rPr>
              <a:t>Leave Utilization </a:t>
            </a:r>
            <a:r>
              <a:rPr lang="en-US" sz="2350">
                <a:solidFill>
                  <a:srgbClr val="000000"/>
                </a:solidFill>
                <a:latin typeface="Garet"/>
                <a:ea typeface="Garet"/>
                <a:cs typeface="Garet"/>
                <a:sym typeface="Garet"/>
              </a:rPr>
              <a:t>Rate: Persentase penggunaan cuti</a:t>
            </a:r>
          </a:p>
          <a:p>
            <a:pPr algn="l" marL="1014873" indent="-338291" lvl="2">
              <a:lnSpc>
                <a:spcPts val="3290"/>
              </a:lnSpc>
              <a:buAutoNum type="alphaLcPeriod" startAt="1"/>
            </a:pPr>
            <a:r>
              <a:rPr lang="en-US" sz="2350">
                <a:solidFill>
                  <a:srgbClr val="000000"/>
                </a:solidFill>
                <a:latin typeface="Garet"/>
                <a:ea typeface="Garet"/>
                <a:cs typeface="Garet"/>
                <a:sym typeface="Garet"/>
              </a:rPr>
              <a:t>Promotion Rate: Persentase pegawai yang dipromosikan</a:t>
            </a:r>
          </a:p>
          <a:p>
            <a:pPr algn="l" marL="1014873" indent="-338291" lvl="2">
              <a:lnSpc>
                <a:spcPts val="3290"/>
              </a:lnSpc>
              <a:buAutoNum type="alphaLcPeriod" startAt="1"/>
            </a:pPr>
            <a:r>
              <a:rPr lang="en-US" sz="2350">
                <a:solidFill>
                  <a:srgbClr val="000000"/>
                </a:solidFill>
                <a:latin typeface="Garet"/>
                <a:ea typeface="Garet"/>
                <a:cs typeface="Garet"/>
                <a:sym typeface="Garet"/>
              </a:rPr>
              <a:t>Performance Score Average: Rata-rata nilai kinerja pegawai</a:t>
            </a:r>
          </a:p>
          <a:p>
            <a:pPr algn="l" marL="1014873" indent="-338291" lvl="2">
              <a:lnSpc>
                <a:spcPts val="3290"/>
              </a:lnSpc>
              <a:buAutoNum type="alphaLcPeriod" startAt="1"/>
            </a:pPr>
            <a:r>
              <a:rPr lang="en-US" sz="2350">
                <a:solidFill>
                  <a:srgbClr val="000000"/>
                </a:solidFill>
                <a:latin typeface="Garet"/>
                <a:ea typeface="Garet"/>
                <a:cs typeface="Garet"/>
                <a:sym typeface="Garet"/>
              </a:rPr>
              <a:t>Employee Satisf</a:t>
            </a:r>
            <a:r>
              <a:rPr lang="en-US" sz="2350">
                <a:solidFill>
                  <a:srgbClr val="000000"/>
                </a:solidFill>
                <a:latin typeface="Garet"/>
                <a:ea typeface="Garet"/>
                <a:cs typeface="Garet"/>
                <a:sym typeface="Garet"/>
              </a:rPr>
              <a:t>action Index: Indeks kepuasan </a:t>
            </a:r>
          </a:p>
          <a:p>
            <a:pPr algn="l" marL="507436" indent="-253718" lvl="1">
              <a:lnSpc>
                <a:spcPts val="3290"/>
              </a:lnSpc>
              <a:buAutoNum type="arabicPeriod" startAt="1"/>
            </a:pPr>
            <a:r>
              <a:rPr lang="en-US" sz="2350">
                <a:solidFill>
                  <a:srgbClr val="000000"/>
                </a:solidFill>
                <a:latin typeface="Garet"/>
                <a:ea typeface="Garet"/>
                <a:cs typeface="Garet"/>
                <a:sym typeface="Garet"/>
              </a:rPr>
              <a:t> Pegawai Performance KPIs: Fact_Performance</a:t>
            </a:r>
          </a:p>
          <a:p>
            <a:pPr algn="l" marL="1014873" indent="-338291" lvl="2">
              <a:lnSpc>
                <a:spcPts val="3290"/>
              </a:lnSpc>
              <a:buAutoNum type="alphaLcPeriod" startAt="1"/>
            </a:pPr>
            <a:r>
              <a:rPr lang="en-US" sz="2350">
                <a:solidFill>
                  <a:srgbClr val="000000"/>
                </a:solidFill>
                <a:latin typeface="Garet"/>
                <a:ea typeface="Garet"/>
                <a:cs typeface="Garet"/>
                <a:sym typeface="Garet"/>
              </a:rPr>
              <a:t>Average Performance Score: Nilai rata-rata SKP/Total Skor seluruh pegawai.</a:t>
            </a:r>
          </a:p>
          <a:p>
            <a:pPr algn="l" marL="1014873" indent="-338291" lvl="2">
              <a:lnSpc>
                <a:spcPts val="3290"/>
              </a:lnSpc>
              <a:buAutoNum type="alphaLcPeriod" startAt="1"/>
            </a:pPr>
            <a:r>
              <a:rPr lang="en-US" sz="2350">
                <a:solidFill>
                  <a:srgbClr val="000000"/>
                </a:solidFill>
                <a:latin typeface="Garet"/>
                <a:ea typeface="Garet"/>
                <a:cs typeface="Garet"/>
                <a:sym typeface="Garet"/>
              </a:rPr>
              <a:t>High Performer Ratio (%): Persentase pegawa</a:t>
            </a:r>
            <a:r>
              <a:rPr lang="en-US" sz="2350">
                <a:solidFill>
                  <a:srgbClr val="000000"/>
                </a:solidFill>
                <a:latin typeface="Garet"/>
                <a:ea typeface="Garet"/>
                <a:cs typeface="Garet"/>
                <a:sym typeface="Garet"/>
              </a:rPr>
              <a:t>i dengan Grade A.</a:t>
            </a:r>
          </a:p>
          <a:p>
            <a:pPr algn="l" marL="1014873" indent="-338291" lvl="2">
              <a:lnSpc>
                <a:spcPts val="3290"/>
              </a:lnSpc>
              <a:buAutoNum type="alphaLcPeriod" startAt="1"/>
            </a:pPr>
            <a:r>
              <a:rPr lang="en-US" sz="2350">
                <a:solidFill>
                  <a:srgbClr val="000000"/>
                </a:solidFill>
                <a:latin typeface="Garet"/>
                <a:ea typeface="Garet"/>
                <a:cs typeface="Garet"/>
                <a:sym typeface="Garet"/>
              </a:rPr>
              <a:t>Low Performer Ratio (%)</a:t>
            </a:r>
            <a:r>
              <a:rPr lang="en-US" sz="2350">
                <a:solidFill>
                  <a:srgbClr val="000000"/>
                </a:solidFill>
                <a:latin typeface="Garet"/>
                <a:ea typeface="Garet"/>
                <a:cs typeface="Garet"/>
                <a:sym typeface="Garet"/>
              </a:rPr>
              <a:t>: Persentase pegawai dengan Grade C atau kurang.</a:t>
            </a:r>
          </a:p>
          <a:p>
            <a:pPr algn="l" marL="1014873" indent="-338291" lvl="2">
              <a:lnSpc>
                <a:spcPts val="3290"/>
              </a:lnSpc>
              <a:buAutoNum type="alphaLcPeriod" startAt="1"/>
            </a:pPr>
            <a:r>
              <a:rPr lang="en-US" sz="2350">
                <a:solidFill>
                  <a:srgbClr val="000000"/>
                </a:solidFill>
                <a:latin typeface="Garet"/>
                <a:ea typeface="Garet"/>
                <a:cs typeface="Garet"/>
                <a:sym typeface="Garet"/>
              </a:rPr>
              <a:t>Perf</a:t>
            </a:r>
            <a:r>
              <a:rPr lang="en-US" sz="2350">
                <a:solidFill>
                  <a:srgbClr val="000000"/>
                </a:solidFill>
                <a:latin typeface="Garet"/>
                <a:ea typeface="Garet"/>
                <a:cs typeface="Garet"/>
                <a:sym typeface="Garet"/>
              </a:rPr>
              <a:t>ormance by Position: Perbandingan rata-rata skor antar jabatan.</a:t>
            </a:r>
          </a:p>
          <a:p>
            <a:pPr algn="l">
              <a:lnSpc>
                <a:spcPts val="368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5348746" y="1828121"/>
            <a:ext cx="7149661" cy="6706958"/>
          </a:xfrm>
          <a:custGeom>
            <a:avLst/>
            <a:gdLst/>
            <a:ahLst/>
            <a:cxnLst/>
            <a:rect r="r" b="b" t="t" l="l"/>
            <a:pathLst>
              <a:path h="6706958" w="7149661">
                <a:moveTo>
                  <a:pt x="0" y="0"/>
                </a:moveTo>
                <a:lnTo>
                  <a:pt x="7149662" y="0"/>
                </a:lnTo>
                <a:lnTo>
                  <a:pt x="7149662" y="6706958"/>
                </a:lnTo>
                <a:lnTo>
                  <a:pt x="0" y="6706958"/>
                </a:lnTo>
                <a:lnTo>
                  <a:pt x="0" y="0"/>
                </a:lnTo>
                <a:close/>
              </a:path>
            </a:pathLst>
          </a:custGeom>
          <a:blipFill>
            <a:blip r:embed="rId3"/>
            <a:stretch>
              <a:fillRect l="0" t="0" r="0" b="0"/>
            </a:stretch>
          </a:blipFill>
        </p:spPr>
      </p:sp>
      <p:sp>
        <p:nvSpPr>
          <p:cNvPr name="TextBox 6" id="6"/>
          <p:cNvSpPr txBox="true"/>
          <p:nvPr/>
        </p:nvSpPr>
        <p:spPr>
          <a:xfrm rot="0">
            <a:off x="5348746" y="1019402"/>
            <a:ext cx="8893683" cy="663573"/>
          </a:xfrm>
          <a:prstGeom prst="rect">
            <a:avLst/>
          </a:prstGeom>
        </p:spPr>
        <p:txBody>
          <a:bodyPr anchor="t" rtlCol="false" tIns="0" lIns="0" bIns="0" rIns="0">
            <a:spAutoFit/>
          </a:bodyPr>
          <a:lstStyle/>
          <a:p>
            <a:pPr algn="l" marL="0" indent="0" lvl="0">
              <a:lnSpc>
                <a:spcPts val="4940"/>
              </a:lnSpc>
              <a:spcBef>
                <a:spcPct val="0"/>
              </a:spcBef>
            </a:pPr>
            <a:r>
              <a:rPr lang="en-US" sz="4940" spc="-390">
                <a:solidFill>
                  <a:srgbClr val="000000"/>
                </a:solidFill>
                <a:latin typeface="Archivo Black"/>
                <a:ea typeface="Archivo Black"/>
                <a:cs typeface="Archivo Black"/>
                <a:sym typeface="Archivo Black"/>
              </a:rPr>
              <a:t>Identifikasi Sumber Data</a:t>
            </a:r>
          </a:p>
        </p:txBody>
      </p:sp>
      <p:sp>
        <p:nvSpPr>
          <p:cNvPr name="TextBox 7" id="7"/>
          <p:cNvSpPr txBox="true"/>
          <p:nvPr/>
        </p:nvSpPr>
        <p:spPr>
          <a:xfrm rot="0">
            <a:off x="4697159" y="270105"/>
            <a:ext cx="8893683" cy="663573"/>
          </a:xfrm>
          <a:prstGeom prst="rect">
            <a:avLst/>
          </a:prstGeom>
        </p:spPr>
        <p:txBody>
          <a:bodyPr anchor="t" rtlCol="false" tIns="0" lIns="0" bIns="0" rIns="0">
            <a:spAutoFit/>
          </a:bodyPr>
          <a:lstStyle/>
          <a:p>
            <a:pPr algn="l" marL="0" indent="0" lvl="0">
              <a:lnSpc>
                <a:spcPts val="4940"/>
              </a:lnSpc>
              <a:spcBef>
                <a:spcPct val="0"/>
              </a:spcBef>
            </a:pPr>
            <a:r>
              <a:rPr lang="en-US" sz="4940" spc="-390">
                <a:solidFill>
                  <a:srgbClr val="000000"/>
                </a:solidFill>
                <a:latin typeface="Archivo Black"/>
                <a:ea typeface="Archivo Black"/>
                <a:cs typeface="Archivo Black"/>
                <a:sym typeface="Archivo Black"/>
              </a:rPr>
              <a:t>02 Data Source Identification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94593" y="389768"/>
            <a:ext cx="5957217" cy="849500"/>
          </a:xfrm>
          <a:prstGeom prst="rect">
            <a:avLst/>
          </a:prstGeom>
        </p:spPr>
        <p:txBody>
          <a:bodyPr anchor="t" rtlCol="false" tIns="0" lIns="0" bIns="0" rIns="0">
            <a:spAutoFit/>
          </a:bodyPr>
          <a:lstStyle/>
          <a:p>
            <a:pPr algn="l">
              <a:lnSpc>
                <a:spcPts val="3227"/>
              </a:lnSpc>
            </a:pPr>
            <a:r>
              <a:rPr lang="en-US" sz="3227" spc="-254">
                <a:solidFill>
                  <a:srgbClr val="000000"/>
                </a:solidFill>
                <a:latin typeface="Archivo Black"/>
                <a:ea typeface="Archivo Black"/>
                <a:cs typeface="Archivo Black"/>
                <a:sym typeface="Archivo Black"/>
              </a:rPr>
              <a:t>02. Data Source Analysis</a:t>
            </a:r>
          </a:p>
          <a:p>
            <a:pPr algn="l" marL="0" indent="0" lvl="0">
              <a:lnSpc>
                <a:spcPts val="3227"/>
              </a:lnSpc>
              <a:spcBef>
                <a:spcPct val="0"/>
              </a:spcBef>
            </a:pPr>
          </a:p>
        </p:txBody>
      </p:sp>
      <p:sp>
        <p:nvSpPr>
          <p:cNvPr name="TextBox 4" id="4"/>
          <p:cNvSpPr txBox="true"/>
          <p:nvPr/>
        </p:nvSpPr>
        <p:spPr>
          <a:xfrm rot="0">
            <a:off x="515061" y="990600"/>
            <a:ext cx="10066022" cy="2772899"/>
          </a:xfrm>
          <a:prstGeom prst="rect">
            <a:avLst/>
          </a:prstGeom>
        </p:spPr>
        <p:txBody>
          <a:bodyPr anchor="t" rtlCol="false" tIns="0" lIns="0" bIns="0" rIns="0">
            <a:spAutoFit/>
          </a:bodyPr>
          <a:lstStyle/>
          <a:p>
            <a:pPr algn="just">
              <a:lnSpc>
                <a:spcPts val="3695"/>
              </a:lnSpc>
            </a:pPr>
          </a:p>
          <a:p>
            <a:pPr algn="just" marL="569947" indent="-284974" lvl="1">
              <a:lnSpc>
                <a:spcPts val="3695"/>
              </a:lnSpc>
              <a:buFont typeface="Arial"/>
              <a:buChar char="•"/>
            </a:pPr>
            <a:r>
              <a:rPr lang="en-US" sz="2639">
                <a:solidFill>
                  <a:srgbClr val="000000"/>
                </a:solidFill>
                <a:latin typeface="Garet"/>
                <a:ea typeface="Garet"/>
                <a:cs typeface="Garet"/>
                <a:sym typeface="Garet"/>
              </a:rPr>
              <a:t>Data SDM Kepegawaian struktur (Dosen dan Tendik)</a:t>
            </a:r>
          </a:p>
          <a:p>
            <a:pPr algn="just" marL="569947" indent="-284974" lvl="1">
              <a:lnSpc>
                <a:spcPts val="3695"/>
              </a:lnSpc>
              <a:buFont typeface="Arial"/>
              <a:buChar char="•"/>
            </a:pPr>
            <a:r>
              <a:rPr lang="en-US" sz="2639">
                <a:solidFill>
                  <a:srgbClr val="000000"/>
                </a:solidFill>
                <a:latin typeface="Garet"/>
                <a:ea typeface="Garet"/>
                <a:cs typeface="Garet"/>
                <a:sym typeface="Garet"/>
              </a:rPr>
              <a:t>Data layanan (Cuti dan pelatihan</a:t>
            </a:r>
          </a:p>
          <a:p>
            <a:pPr algn="just" marL="569947" indent="-284974" lvl="1">
              <a:lnSpc>
                <a:spcPts val="3695"/>
              </a:lnSpc>
              <a:buFont typeface="Arial"/>
              <a:buChar char="•"/>
            </a:pPr>
            <a:r>
              <a:rPr lang="en-US" sz="2639">
                <a:solidFill>
                  <a:srgbClr val="000000"/>
                </a:solidFill>
                <a:latin typeface="Garet"/>
                <a:ea typeface="Garet"/>
                <a:cs typeface="Garet"/>
                <a:sym typeface="Garet"/>
              </a:rPr>
              <a:t>Hierarki unit kerja (Bagian-bagian struktur Kepegawaian)</a:t>
            </a:r>
          </a:p>
          <a:p>
            <a:pPr algn="just">
              <a:lnSpc>
                <a:spcPts val="3695"/>
              </a:lnSpc>
              <a:spcBef>
                <a:spcPct val="0"/>
              </a:spcBef>
            </a:pPr>
          </a:p>
        </p:txBody>
      </p:sp>
      <p:sp>
        <p:nvSpPr>
          <p:cNvPr name="TextBox 5" id="5"/>
          <p:cNvSpPr txBox="true"/>
          <p:nvPr/>
        </p:nvSpPr>
        <p:spPr>
          <a:xfrm rot="0">
            <a:off x="515061" y="1042116"/>
            <a:ext cx="5204115" cy="849500"/>
          </a:xfrm>
          <a:prstGeom prst="rect">
            <a:avLst/>
          </a:prstGeom>
        </p:spPr>
        <p:txBody>
          <a:bodyPr anchor="t" rtlCol="false" tIns="0" lIns="0" bIns="0" rIns="0">
            <a:spAutoFit/>
          </a:bodyPr>
          <a:lstStyle/>
          <a:p>
            <a:pPr algn="l">
              <a:lnSpc>
                <a:spcPts val="3227"/>
              </a:lnSpc>
            </a:pPr>
            <a:r>
              <a:rPr lang="en-US" sz="3227" spc="-254">
                <a:solidFill>
                  <a:srgbClr val="000000"/>
                </a:solidFill>
                <a:latin typeface="Archivo Black"/>
                <a:ea typeface="Archivo Black"/>
                <a:cs typeface="Archivo Black"/>
                <a:sym typeface="Archivo Black"/>
              </a:rPr>
              <a:t>Data Source Analysis</a:t>
            </a:r>
          </a:p>
          <a:p>
            <a:pPr algn="l">
              <a:lnSpc>
                <a:spcPts val="3227"/>
              </a:lnSpc>
              <a:spcBef>
                <a:spcPct val="0"/>
              </a:spcBef>
            </a:pPr>
          </a:p>
        </p:txBody>
      </p:sp>
      <p:sp>
        <p:nvSpPr>
          <p:cNvPr name="TextBox 6" id="6"/>
          <p:cNvSpPr txBox="true"/>
          <p:nvPr/>
        </p:nvSpPr>
        <p:spPr>
          <a:xfrm rot="0">
            <a:off x="363531" y="4204976"/>
            <a:ext cx="10066022" cy="1838948"/>
          </a:xfrm>
          <a:prstGeom prst="rect">
            <a:avLst/>
          </a:prstGeom>
        </p:spPr>
        <p:txBody>
          <a:bodyPr anchor="t" rtlCol="false" tIns="0" lIns="0" bIns="0" rIns="0">
            <a:spAutoFit/>
          </a:bodyPr>
          <a:lstStyle/>
          <a:p>
            <a:pPr algn="just" marL="569947" indent="-284974" lvl="1">
              <a:lnSpc>
                <a:spcPts val="3695"/>
              </a:lnSpc>
              <a:buFont typeface="Arial"/>
              <a:buChar char="•"/>
            </a:pPr>
            <a:r>
              <a:rPr lang="en-US" sz="2639">
                <a:solidFill>
                  <a:srgbClr val="000000"/>
                </a:solidFill>
                <a:latin typeface="Garet"/>
                <a:ea typeface="Garet"/>
                <a:cs typeface="Garet"/>
                <a:sym typeface="Garet"/>
              </a:rPr>
              <a:t>Data kepegawaian tidak dapat diakses mudah</a:t>
            </a:r>
          </a:p>
          <a:p>
            <a:pPr algn="just" marL="569947" indent="-284974" lvl="1">
              <a:lnSpc>
                <a:spcPts val="3695"/>
              </a:lnSpc>
              <a:buFont typeface="Arial"/>
              <a:buChar char="•"/>
            </a:pPr>
            <a:r>
              <a:rPr lang="en-US" sz="2639">
                <a:solidFill>
                  <a:srgbClr val="000000"/>
                </a:solidFill>
                <a:latin typeface="Garet"/>
                <a:ea typeface="Garet"/>
                <a:cs typeface="Garet"/>
                <a:sym typeface="Garet"/>
              </a:rPr>
              <a:t>Atr</a:t>
            </a:r>
            <a:r>
              <a:rPr lang="en-US" sz="2639">
                <a:solidFill>
                  <a:srgbClr val="000000"/>
                </a:solidFill>
                <a:latin typeface="Garet"/>
                <a:ea typeface="Garet"/>
                <a:cs typeface="Garet"/>
                <a:sym typeface="Garet"/>
              </a:rPr>
              <a:t>ibut seperti NRK/NIP, unit kerja memiliki format konsisten</a:t>
            </a:r>
          </a:p>
          <a:p>
            <a:pPr algn="just">
              <a:lnSpc>
                <a:spcPts val="3695"/>
              </a:lnSpc>
              <a:spcBef>
                <a:spcPct val="0"/>
              </a:spcBef>
            </a:pPr>
          </a:p>
        </p:txBody>
      </p:sp>
      <p:sp>
        <p:nvSpPr>
          <p:cNvPr name="TextBox 7" id="7"/>
          <p:cNvSpPr txBox="true"/>
          <p:nvPr/>
        </p:nvSpPr>
        <p:spPr>
          <a:xfrm rot="0">
            <a:off x="515061" y="3656031"/>
            <a:ext cx="6435802" cy="853567"/>
          </a:xfrm>
          <a:prstGeom prst="rect">
            <a:avLst/>
          </a:prstGeom>
        </p:spPr>
        <p:txBody>
          <a:bodyPr anchor="t" rtlCol="false" tIns="0" lIns="0" bIns="0" rIns="0">
            <a:spAutoFit/>
          </a:bodyPr>
          <a:lstStyle/>
          <a:p>
            <a:pPr algn="l">
              <a:lnSpc>
                <a:spcPts val="3230"/>
              </a:lnSpc>
            </a:pPr>
            <a:r>
              <a:rPr lang="en-US" sz="3230" spc="-255">
                <a:solidFill>
                  <a:srgbClr val="000000"/>
                </a:solidFill>
                <a:latin typeface="Archivo Black"/>
                <a:ea typeface="Archivo Black"/>
                <a:cs typeface="Archivo Black"/>
                <a:sym typeface="Archivo Black"/>
              </a:rPr>
              <a:t>Kualitas dan Ketersediaan data</a:t>
            </a:r>
          </a:p>
          <a:p>
            <a:pPr algn="l">
              <a:lnSpc>
                <a:spcPts val="3230"/>
              </a:lnSpc>
              <a:spcBef>
                <a:spcPct val="0"/>
              </a:spcBef>
            </a:pPr>
          </a:p>
        </p:txBody>
      </p:sp>
      <p:sp>
        <p:nvSpPr>
          <p:cNvPr name="TextBox 8" id="8"/>
          <p:cNvSpPr txBox="true"/>
          <p:nvPr/>
        </p:nvSpPr>
        <p:spPr>
          <a:xfrm rot="0">
            <a:off x="485249" y="6211935"/>
            <a:ext cx="5233926" cy="853567"/>
          </a:xfrm>
          <a:prstGeom prst="rect">
            <a:avLst/>
          </a:prstGeom>
        </p:spPr>
        <p:txBody>
          <a:bodyPr anchor="t" rtlCol="false" tIns="0" lIns="0" bIns="0" rIns="0">
            <a:spAutoFit/>
          </a:bodyPr>
          <a:lstStyle/>
          <a:p>
            <a:pPr algn="l">
              <a:lnSpc>
                <a:spcPts val="3230"/>
              </a:lnSpc>
            </a:pPr>
            <a:r>
              <a:rPr lang="en-US" sz="3230" spc="-255">
                <a:solidFill>
                  <a:srgbClr val="000000"/>
                </a:solidFill>
                <a:latin typeface="Archivo Black"/>
                <a:ea typeface="Archivo Black"/>
                <a:cs typeface="Archivo Black"/>
                <a:sym typeface="Archivo Black"/>
              </a:rPr>
              <a:t>Data Profiling</a:t>
            </a:r>
          </a:p>
          <a:p>
            <a:pPr algn="l">
              <a:lnSpc>
                <a:spcPts val="3230"/>
              </a:lnSpc>
              <a:spcBef>
                <a:spcPct val="0"/>
              </a:spcBef>
            </a:pPr>
          </a:p>
        </p:txBody>
      </p:sp>
      <p:sp>
        <p:nvSpPr>
          <p:cNvPr name="TextBox 9" id="9"/>
          <p:cNvSpPr txBox="true"/>
          <p:nvPr/>
        </p:nvSpPr>
        <p:spPr>
          <a:xfrm rot="0">
            <a:off x="515061" y="6744505"/>
            <a:ext cx="10066022" cy="904998"/>
          </a:xfrm>
          <a:prstGeom prst="rect">
            <a:avLst/>
          </a:prstGeom>
        </p:spPr>
        <p:txBody>
          <a:bodyPr anchor="t" rtlCol="false" tIns="0" lIns="0" bIns="0" rIns="0">
            <a:spAutoFit/>
          </a:bodyPr>
          <a:lstStyle/>
          <a:p>
            <a:pPr algn="just" marL="569947" indent="-284974" lvl="1">
              <a:lnSpc>
                <a:spcPts val="3695"/>
              </a:lnSpc>
              <a:buFont typeface="Arial"/>
              <a:buChar char="•"/>
            </a:pPr>
            <a:r>
              <a:rPr lang="en-US" sz="2639">
                <a:solidFill>
                  <a:srgbClr val="000000"/>
                </a:solidFill>
                <a:latin typeface="Garet"/>
                <a:ea typeface="Garet"/>
                <a:cs typeface="Garet"/>
                <a:sym typeface="Garet"/>
              </a:rPr>
              <a:t>Profiling Data</a:t>
            </a:r>
          </a:p>
          <a:p>
            <a:pPr algn="just">
              <a:lnSpc>
                <a:spcPts val="3695"/>
              </a:lnSpc>
              <a:spcBef>
                <a:spcPct val="0"/>
              </a:spcBef>
            </a:pPr>
          </a:p>
        </p:txBody>
      </p:sp>
      <p:sp>
        <p:nvSpPr>
          <p:cNvPr name="Freeform 10" id="10"/>
          <p:cNvSpPr/>
          <p:nvPr/>
        </p:nvSpPr>
        <p:spPr>
          <a:xfrm flipH="false" flipV="false" rot="0">
            <a:off x="13760302" y="7065502"/>
            <a:ext cx="4163658" cy="2278657"/>
          </a:xfrm>
          <a:custGeom>
            <a:avLst/>
            <a:gdLst/>
            <a:ahLst/>
            <a:cxnLst/>
            <a:rect r="r" b="b" t="t" l="l"/>
            <a:pathLst>
              <a:path h="2278657" w="4163658">
                <a:moveTo>
                  <a:pt x="0" y="0"/>
                </a:moveTo>
                <a:lnTo>
                  <a:pt x="4163658" y="0"/>
                </a:lnTo>
                <a:lnTo>
                  <a:pt x="4163658" y="2278657"/>
                </a:lnTo>
                <a:lnTo>
                  <a:pt x="0" y="22786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3760302" y="342143"/>
            <a:ext cx="4163658" cy="2278657"/>
          </a:xfrm>
          <a:custGeom>
            <a:avLst/>
            <a:gdLst/>
            <a:ahLst/>
            <a:cxnLst/>
            <a:rect r="r" b="b" t="t" l="l"/>
            <a:pathLst>
              <a:path h="2278657" w="4163658">
                <a:moveTo>
                  <a:pt x="0" y="0"/>
                </a:moveTo>
                <a:lnTo>
                  <a:pt x="4163658" y="0"/>
                </a:lnTo>
                <a:lnTo>
                  <a:pt x="4163658" y="2278657"/>
                </a:lnTo>
                <a:lnTo>
                  <a:pt x="0" y="22786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28700" y="7936415"/>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133475"/>
            <a:ext cx="5317645" cy="579326"/>
          </a:xfrm>
          <a:prstGeom prst="rect">
            <a:avLst/>
          </a:prstGeom>
        </p:spPr>
        <p:txBody>
          <a:bodyPr anchor="t" rtlCol="false" tIns="0" lIns="0" bIns="0" rIns="0">
            <a:spAutoFit/>
          </a:bodyPr>
          <a:lstStyle/>
          <a:p>
            <a:pPr algn="l">
              <a:lnSpc>
                <a:spcPts val="2188"/>
              </a:lnSpc>
            </a:pPr>
            <a:r>
              <a:rPr lang="en-US" sz="2805" spc="-221">
                <a:solidFill>
                  <a:srgbClr val="000000"/>
                </a:solidFill>
                <a:latin typeface="Archivo Black"/>
                <a:ea typeface="Archivo Black"/>
                <a:cs typeface="Archivo Black"/>
                <a:sym typeface="Archivo Black"/>
              </a:rPr>
              <a:t>03 Design Konseptual - ERD</a:t>
            </a:r>
          </a:p>
          <a:p>
            <a:pPr algn="l" marL="0" indent="0" lvl="0">
              <a:lnSpc>
                <a:spcPts val="2188"/>
              </a:lnSpc>
              <a:spcBef>
                <a:spcPct val="0"/>
              </a:spcBef>
            </a:pPr>
          </a:p>
        </p:txBody>
      </p:sp>
      <p:sp>
        <p:nvSpPr>
          <p:cNvPr name="TextBox 5" id="5"/>
          <p:cNvSpPr txBox="true"/>
          <p:nvPr/>
        </p:nvSpPr>
        <p:spPr>
          <a:xfrm rot="0">
            <a:off x="1028700" y="1832121"/>
            <a:ext cx="12351561" cy="5566410"/>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Garet"/>
                <a:ea typeface="Garet"/>
                <a:cs typeface="Garet"/>
                <a:sym typeface="Garet"/>
              </a:rPr>
              <a:t>ID</a:t>
            </a:r>
            <a:r>
              <a:rPr lang="en-US" sz="2100" u="none">
                <a:solidFill>
                  <a:srgbClr val="000000"/>
                </a:solidFill>
                <a:latin typeface="Garet"/>
                <a:ea typeface="Garet"/>
                <a:cs typeface="Garet"/>
                <a:sym typeface="Garet"/>
              </a:rPr>
              <a:t>ENTIFIKASI ENTITAS</a:t>
            </a:r>
          </a:p>
          <a:p>
            <a:pPr algn="l">
              <a:lnSpc>
                <a:spcPts val="2940"/>
              </a:lnSpc>
              <a:spcBef>
                <a:spcPct val="0"/>
              </a:spcBef>
            </a:pPr>
            <a:r>
              <a:rPr lang="en-US" sz="2100" u="none">
                <a:solidFill>
                  <a:srgbClr val="000000"/>
                </a:solidFill>
                <a:latin typeface="Garet"/>
                <a:ea typeface="Garet"/>
                <a:cs typeface="Garet"/>
                <a:sym typeface="Garet"/>
              </a:rPr>
              <a:t>  A. ENTITAS MASTER (DATA REFERENSI)</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PEGAWAI, MENYIMPAN DATA INDUK KARYAWAN (NIP, NAMA, TGL LAHIR, STATUS PEGAWAI).</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UNIT_KERJA, MENYIMPAN STRUKTUR ORGANISASI (KODE UNIT, NAMA UNIT, FAKULTAS).</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JABATAN, MENYIMPAN KATALOG JABATAN (KODE JABATAN, NAMA JABATAN, TIPE).</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PANGKAT,MENYIMPAN REFERENSI GOLONGAN (KODE GOLONGAN, PANGKAT, GAJI DASAR).</a:t>
            </a:r>
          </a:p>
          <a:p>
            <a:pPr algn="l">
              <a:lnSpc>
                <a:spcPts val="2940"/>
              </a:lnSpc>
              <a:spcBef>
                <a:spcPct val="0"/>
              </a:spcBef>
            </a:pPr>
            <a:r>
              <a:rPr lang="en-US" sz="2100" u="none">
                <a:solidFill>
                  <a:srgbClr val="000000"/>
                </a:solidFill>
                <a:latin typeface="Garet"/>
                <a:ea typeface="Garet"/>
                <a:cs typeface="Garet"/>
                <a:sym typeface="Garet"/>
              </a:rPr>
              <a:t>  B. ENTITAS TRANSAKSI (KEJADIAN BISNIS)</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ABSENSI, MENCATAT LOG KEHADIRAN HARIAN, TERMASUK STATUS (HADIR/SAKIT/IZIN/CUTI).</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PENILAIAN_KINERJA, MENCATAT HASIL EVALUASI KINERJA PEGAWAI SECARA PERIODIK (SEMESTERAN).</a:t>
            </a:r>
          </a:p>
          <a:p>
            <a:pPr algn="l" marL="453390" indent="-226695" lvl="1">
              <a:lnSpc>
                <a:spcPts val="2940"/>
              </a:lnSpc>
              <a:spcBef>
                <a:spcPct val="0"/>
              </a:spcBef>
              <a:buAutoNum type="arabicPeriod" startAt="1"/>
            </a:pPr>
            <a:r>
              <a:rPr lang="en-US" sz="2100" u="none">
                <a:solidFill>
                  <a:srgbClr val="000000"/>
                </a:solidFill>
                <a:latin typeface="Garet"/>
                <a:ea typeface="Garet"/>
                <a:cs typeface="Garet"/>
                <a:sym typeface="Garet"/>
              </a:rPr>
              <a:t>G</a:t>
            </a:r>
            <a:r>
              <a:rPr lang="en-US" sz="2100" u="none">
                <a:solidFill>
                  <a:srgbClr val="000000"/>
                </a:solidFill>
                <a:latin typeface="Garet"/>
                <a:ea typeface="Garet"/>
                <a:cs typeface="Garet"/>
                <a:sym typeface="Garet"/>
              </a:rPr>
              <a:t>AJI, MENCATAT RIWAYAT PEMBAYARAN GAJI BULANAN DAN TUNJANGAN.</a:t>
            </a:r>
          </a:p>
          <a:p>
            <a:pPr algn="l" marL="0" indent="0" lvl="0">
              <a:lnSpc>
                <a:spcPts val="2940"/>
              </a:lnSpc>
              <a:spcBef>
                <a:spcPct val="0"/>
              </a:spcBef>
            </a:pPr>
          </a:p>
        </p:txBody>
      </p:sp>
      <p:sp>
        <p:nvSpPr>
          <p:cNvPr name="Freeform 6" id="6"/>
          <p:cNvSpPr/>
          <p:nvPr/>
        </p:nvSpPr>
        <p:spPr>
          <a:xfrm flipH="false" flipV="false" rot="0">
            <a:off x="1028700" y="7551854"/>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133475"/>
            <a:ext cx="5317645" cy="579326"/>
          </a:xfrm>
          <a:prstGeom prst="rect">
            <a:avLst/>
          </a:prstGeom>
        </p:spPr>
        <p:txBody>
          <a:bodyPr anchor="t" rtlCol="false" tIns="0" lIns="0" bIns="0" rIns="0">
            <a:spAutoFit/>
          </a:bodyPr>
          <a:lstStyle/>
          <a:p>
            <a:pPr algn="l">
              <a:lnSpc>
                <a:spcPts val="2188"/>
              </a:lnSpc>
            </a:pPr>
            <a:r>
              <a:rPr lang="en-US" sz="2805" spc="-221">
                <a:solidFill>
                  <a:srgbClr val="000000"/>
                </a:solidFill>
                <a:latin typeface="Archivo Black"/>
                <a:ea typeface="Archivo Black"/>
                <a:cs typeface="Archivo Black"/>
                <a:sym typeface="Archivo Black"/>
              </a:rPr>
              <a:t>03 Design Konseptual - ERD</a:t>
            </a:r>
          </a:p>
          <a:p>
            <a:pPr algn="l" marL="0" indent="0" lvl="0">
              <a:lnSpc>
                <a:spcPts val="2188"/>
              </a:lnSpc>
              <a:spcBef>
                <a:spcPct val="0"/>
              </a:spcBef>
            </a:pPr>
          </a:p>
        </p:txBody>
      </p:sp>
      <p:sp>
        <p:nvSpPr>
          <p:cNvPr name="TextBox 5" id="5"/>
          <p:cNvSpPr txBox="true"/>
          <p:nvPr/>
        </p:nvSpPr>
        <p:spPr>
          <a:xfrm rot="0">
            <a:off x="1028700" y="1822596"/>
            <a:ext cx="13254386" cy="7415530"/>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Garet"/>
                <a:ea typeface="Garet"/>
                <a:cs typeface="Garet"/>
                <a:sym typeface="Garet"/>
              </a:rPr>
              <a:t>D</a:t>
            </a:r>
            <a:r>
              <a:rPr lang="en-US" sz="2799" u="none">
                <a:solidFill>
                  <a:srgbClr val="000000"/>
                </a:solidFill>
                <a:latin typeface="Garet"/>
                <a:ea typeface="Garet"/>
                <a:cs typeface="Garet"/>
                <a:sym typeface="Garet"/>
              </a:rPr>
              <a:t>EFINISI RELATIONSHIPS</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UNIT_KERJA (1) MEMILIKI (M) PEGAWAI</a:t>
            </a:r>
          </a:p>
          <a:p>
            <a:pPr algn="l" marL="604519" indent="-302260" lvl="1">
              <a:lnSpc>
                <a:spcPts val="3919"/>
              </a:lnSpc>
              <a:spcBef>
                <a:spcPct val="0"/>
              </a:spcBef>
              <a:buFont typeface="Arial"/>
              <a:buChar char="•"/>
            </a:pPr>
            <a:r>
              <a:rPr lang="en-US" sz="2799" u="none">
                <a:solidFill>
                  <a:srgbClr val="000000"/>
                </a:solidFill>
                <a:latin typeface="Garet"/>
                <a:ea typeface="Garet"/>
                <a:cs typeface="Garet"/>
                <a:sym typeface="Garet"/>
              </a:rPr>
              <a:t>KARDINALITAS: ONE-TO-MANY.</a:t>
            </a:r>
          </a:p>
          <a:p>
            <a:pPr algn="l" marL="604519" indent="-302260" lvl="1">
              <a:lnSpc>
                <a:spcPts val="3919"/>
              </a:lnSpc>
              <a:spcBef>
                <a:spcPct val="0"/>
              </a:spcBef>
              <a:buFont typeface="Arial"/>
              <a:buChar char="•"/>
            </a:pPr>
            <a:r>
              <a:rPr lang="en-US" sz="2799" u="none">
                <a:solidFill>
                  <a:srgbClr val="000000"/>
                </a:solidFill>
                <a:latin typeface="Garet"/>
                <a:ea typeface="Garet"/>
                <a:cs typeface="Garet"/>
                <a:sym typeface="Garet"/>
              </a:rPr>
              <a:t>PENJELASAN: SATU UNIT KERJA TERDIRI DARI BANYAK PEGAWAI, TETAPI SATU PEGAWAI HANYA TERDAFTAR DI SATU UNIT KERJA UTAMA PADA SATU WAKTU.</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JABATAN (1) DIJABAT OLEH (M) </a:t>
            </a:r>
            <a:r>
              <a:rPr lang="en-US" sz="2799" u="none">
                <a:solidFill>
                  <a:srgbClr val="000000"/>
                </a:solidFill>
                <a:latin typeface="Garet"/>
                <a:ea typeface="Garet"/>
                <a:cs typeface="Garet"/>
                <a:sym typeface="Garet"/>
              </a:rPr>
              <a:t>P</a:t>
            </a:r>
            <a:r>
              <a:rPr lang="en-US" sz="2799" u="none">
                <a:solidFill>
                  <a:srgbClr val="000000"/>
                </a:solidFill>
                <a:latin typeface="Garet"/>
                <a:ea typeface="Garet"/>
                <a:cs typeface="Garet"/>
                <a:sym typeface="Garet"/>
              </a:rPr>
              <a:t>EGAWAI</a:t>
            </a:r>
          </a:p>
          <a:p>
            <a:pPr algn="l" marL="1209039" indent="-403013" lvl="2">
              <a:lnSpc>
                <a:spcPts val="3919"/>
              </a:lnSpc>
              <a:spcBef>
                <a:spcPct val="0"/>
              </a:spcBef>
              <a:buFont typeface="Arial"/>
              <a:buChar char="⚬"/>
            </a:pPr>
            <a:r>
              <a:rPr lang="en-US" sz="2799" u="none">
                <a:solidFill>
                  <a:srgbClr val="000000"/>
                </a:solidFill>
                <a:latin typeface="Garet"/>
                <a:ea typeface="Garet"/>
                <a:cs typeface="Garet"/>
                <a:sym typeface="Garet"/>
              </a:rPr>
              <a:t>KARDINALITAS: ONE-TO-MANY.</a:t>
            </a:r>
          </a:p>
          <a:p>
            <a:pPr algn="l" marL="1209039" indent="-403013" lvl="2">
              <a:lnSpc>
                <a:spcPts val="3919"/>
              </a:lnSpc>
              <a:spcBef>
                <a:spcPct val="0"/>
              </a:spcBef>
              <a:buFont typeface="Arial"/>
              <a:buChar char="⚬"/>
            </a:pPr>
            <a:r>
              <a:rPr lang="en-US" sz="2799" u="none">
                <a:solidFill>
                  <a:srgbClr val="000000"/>
                </a:solidFill>
                <a:latin typeface="Garet"/>
                <a:ea typeface="Garet"/>
                <a:cs typeface="Garet"/>
                <a:sym typeface="Garet"/>
              </a:rPr>
              <a:t>PENJELASAN: SATU JENIS JABATAN (MISAL: "DOSEN LEKTOR") DAPAT DIMILIKI OLEH BANYAK PEGAWAI.</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PANGKAT (1) DIMILIKI OLEH (M) PEGAWAI</a:t>
            </a:r>
          </a:p>
          <a:p>
            <a:pPr algn="l" marL="1209039" indent="-403013" lvl="2">
              <a:lnSpc>
                <a:spcPts val="3919"/>
              </a:lnSpc>
              <a:buFont typeface="Arial"/>
              <a:buChar char="⚬"/>
            </a:pPr>
            <a:r>
              <a:rPr lang="en-US" sz="2799" u="none">
                <a:solidFill>
                  <a:srgbClr val="000000"/>
                </a:solidFill>
                <a:latin typeface="Garet"/>
                <a:ea typeface="Garet"/>
                <a:cs typeface="Garet"/>
                <a:sym typeface="Garet"/>
              </a:rPr>
              <a:t>KARDINALIT</a:t>
            </a:r>
            <a:r>
              <a:rPr lang="en-US" sz="2799" u="none">
                <a:solidFill>
                  <a:srgbClr val="000000"/>
                </a:solidFill>
                <a:latin typeface="Garet"/>
                <a:ea typeface="Garet"/>
                <a:cs typeface="Garet"/>
                <a:sym typeface="Garet"/>
              </a:rPr>
              <a:t>AS: ONE-TO-MANY.</a:t>
            </a:r>
          </a:p>
          <a:p>
            <a:pPr algn="l" marL="1209039" indent="-403013" lvl="2">
              <a:lnSpc>
                <a:spcPts val="3919"/>
              </a:lnSpc>
              <a:buFont typeface="Arial"/>
              <a:buChar char="⚬"/>
            </a:pPr>
            <a:r>
              <a:rPr lang="en-US" sz="2799" u="none">
                <a:solidFill>
                  <a:srgbClr val="000000"/>
                </a:solidFill>
                <a:latin typeface="Garet"/>
                <a:ea typeface="Garet"/>
                <a:cs typeface="Garet"/>
                <a:sym typeface="Garet"/>
              </a:rPr>
              <a:t>PENJELASAN: SATU GOLONGAN PANGKAT (MISAL: "III/A") DAPAT DIMILIKI OLEH BANYAK PEGAWAI.</a:t>
            </a:r>
          </a:p>
          <a:p>
            <a:pPr algn="l" marL="604519" indent="-302260" lvl="1">
              <a:lnSpc>
                <a:spcPts val="3919"/>
              </a:lnSpc>
              <a:buFont typeface="Arial"/>
              <a:buChar char="•"/>
            </a:pPr>
          </a:p>
        </p:txBody>
      </p:sp>
      <p:sp>
        <p:nvSpPr>
          <p:cNvPr name="Freeform 6" id="6"/>
          <p:cNvSpPr/>
          <p:nvPr/>
        </p:nvSpPr>
        <p:spPr>
          <a:xfrm flipH="false" flipV="false" rot="0">
            <a:off x="-1349757" y="85805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133475"/>
            <a:ext cx="5317645" cy="579326"/>
          </a:xfrm>
          <a:prstGeom prst="rect">
            <a:avLst/>
          </a:prstGeom>
        </p:spPr>
        <p:txBody>
          <a:bodyPr anchor="t" rtlCol="false" tIns="0" lIns="0" bIns="0" rIns="0">
            <a:spAutoFit/>
          </a:bodyPr>
          <a:lstStyle/>
          <a:p>
            <a:pPr algn="l">
              <a:lnSpc>
                <a:spcPts val="2188"/>
              </a:lnSpc>
            </a:pPr>
            <a:r>
              <a:rPr lang="en-US" sz="2805" spc="-221">
                <a:solidFill>
                  <a:srgbClr val="000000"/>
                </a:solidFill>
                <a:latin typeface="Archivo Black"/>
                <a:ea typeface="Archivo Black"/>
                <a:cs typeface="Archivo Black"/>
                <a:sym typeface="Archivo Black"/>
              </a:rPr>
              <a:t>03 Design Konseptual - ERD</a:t>
            </a:r>
          </a:p>
          <a:p>
            <a:pPr algn="l" marL="0" indent="0" lvl="0">
              <a:lnSpc>
                <a:spcPts val="2188"/>
              </a:lnSpc>
              <a:spcBef>
                <a:spcPct val="0"/>
              </a:spcBef>
            </a:pPr>
          </a:p>
        </p:txBody>
      </p:sp>
      <p:sp>
        <p:nvSpPr>
          <p:cNvPr name="TextBox 5" id="5"/>
          <p:cNvSpPr txBox="true"/>
          <p:nvPr/>
        </p:nvSpPr>
        <p:spPr>
          <a:xfrm rot="0">
            <a:off x="1028700" y="1822596"/>
            <a:ext cx="13254386" cy="6920230"/>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Garet"/>
                <a:ea typeface="Garet"/>
                <a:cs typeface="Garet"/>
                <a:sym typeface="Garet"/>
              </a:rPr>
              <a:t>D</a:t>
            </a:r>
            <a:r>
              <a:rPr lang="en-US" sz="2799" u="none">
                <a:solidFill>
                  <a:srgbClr val="000000"/>
                </a:solidFill>
                <a:latin typeface="Garet"/>
                <a:ea typeface="Garet"/>
                <a:cs typeface="Garet"/>
                <a:sym typeface="Garet"/>
              </a:rPr>
              <a:t>EFINISI RELATIONSHIPS</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P</a:t>
            </a:r>
            <a:r>
              <a:rPr lang="en-US" sz="2799" u="none">
                <a:solidFill>
                  <a:srgbClr val="000000"/>
                </a:solidFill>
                <a:latin typeface="Garet"/>
                <a:ea typeface="Garet"/>
                <a:cs typeface="Garet"/>
                <a:sym typeface="Garet"/>
              </a:rPr>
              <a:t>EGAWAI (1) MELAKUKAN (M) ABSENSI</a:t>
            </a:r>
          </a:p>
          <a:p>
            <a:pPr algn="l" marL="1209039" indent="-403013" lvl="2">
              <a:lnSpc>
                <a:spcPts val="3919"/>
              </a:lnSpc>
              <a:spcBef>
                <a:spcPct val="0"/>
              </a:spcBef>
              <a:buAutoNum type="alphaLcPeriod" startAt="1"/>
            </a:pPr>
            <a:r>
              <a:rPr lang="en-US" sz="2799" u="none">
                <a:solidFill>
                  <a:srgbClr val="000000"/>
                </a:solidFill>
                <a:latin typeface="Garet"/>
                <a:ea typeface="Garet"/>
                <a:cs typeface="Garet"/>
                <a:sym typeface="Garet"/>
              </a:rPr>
              <a:t>KARDINALITAS: ONE-TO-MANY.</a:t>
            </a:r>
          </a:p>
          <a:p>
            <a:pPr algn="l" marL="1209039" indent="-403013" lvl="2">
              <a:lnSpc>
                <a:spcPts val="3919"/>
              </a:lnSpc>
              <a:spcBef>
                <a:spcPct val="0"/>
              </a:spcBef>
              <a:buAutoNum type="alphaLcPeriod" startAt="1"/>
            </a:pPr>
            <a:r>
              <a:rPr lang="en-US" sz="2799" u="none">
                <a:solidFill>
                  <a:srgbClr val="000000"/>
                </a:solidFill>
                <a:latin typeface="Garet"/>
                <a:ea typeface="Garet"/>
                <a:cs typeface="Garet"/>
                <a:sym typeface="Garet"/>
              </a:rPr>
              <a:t>PENJELASAN: SATU PEGAWAI MELAKUKAN ABSEN SETIAP HARI KERJA (BANYAK RECORD ABSENSI).</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PEG</a:t>
            </a:r>
            <a:r>
              <a:rPr lang="en-US" sz="2799" u="none">
                <a:solidFill>
                  <a:srgbClr val="000000"/>
                </a:solidFill>
                <a:latin typeface="Garet"/>
                <a:ea typeface="Garet"/>
                <a:cs typeface="Garet"/>
                <a:sym typeface="Garet"/>
              </a:rPr>
              <a:t>AWAI (1) MENERIMA (M) GAJI</a:t>
            </a:r>
          </a:p>
          <a:p>
            <a:pPr algn="l" marL="1209039" indent="-403013" lvl="2">
              <a:lnSpc>
                <a:spcPts val="3919"/>
              </a:lnSpc>
              <a:spcBef>
                <a:spcPct val="0"/>
              </a:spcBef>
              <a:buAutoNum type="alphaLcPeriod" startAt="1"/>
            </a:pPr>
            <a:r>
              <a:rPr lang="en-US" sz="2799" u="none">
                <a:solidFill>
                  <a:srgbClr val="000000"/>
                </a:solidFill>
                <a:latin typeface="Garet"/>
                <a:ea typeface="Garet"/>
                <a:cs typeface="Garet"/>
                <a:sym typeface="Garet"/>
              </a:rPr>
              <a:t>KARDINALITAS: ONE-TO-MANY.</a:t>
            </a:r>
          </a:p>
          <a:p>
            <a:pPr algn="l" marL="1209039" indent="-403013" lvl="2">
              <a:lnSpc>
                <a:spcPts val="3919"/>
              </a:lnSpc>
              <a:spcBef>
                <a:spcPct val="0"/>
              </a:spcBef>
              <a:buAutoNum type="alphaLcPeriod" startAt="1"/>
            </a:pPr>
            <a:r>
              <a:rPr lang="en-US" sz="2799" u="none">
                <a:solidFill>
                  <a:srgbClr val="000000"/>
                </a:solidFill>
                <a:latin typeface="Garet"/>
                <a:ea typeface="Garet"/>
                <a:cs typeface="Garet"/>
                <a:sym typeface="Garet"/>
              </a:rPr>
              <a:t>PENJELASAN: SATU PEGAWAI MENERIMA GAJI SETIAP BULAN (BANYAK RECORD RIWAYAT GAJI).</a:t>
            </a:r>
          </a:p>
          <a:p>
            <a:pPr algn="l" marL="604519" indent="-302260" lvl="1">
              <a:lnSpc>
                <a:spcPts val="3919"/>
              </a:lnSpc>
              <a:spcBef>
                <a:spcPct val="0"/>
              </a:spcBef>
              <a:buAutoNum type="arabicPeriod" startAt="1"/>
            </a:pPr>
            <a:r>
              <a:rPr lang="en-US" sz="2799" u="none">
                <a:solidFill>
                  <a:srgbClr val="000000"/>
                </a:solidFill>
                <a:latin typeface="Garet"/>
                <a:ea typeface="Garet"/>
                <a:cs typeface="Garet"/>
                <a:sym typeface="Garet"/>
              </a:rPr>
              <a:t>PEGAWAI (1) DIEVALUASI DALAM(M) PENILAIAN_KINERJA</a:t>
            </a:r>
          </a:p>
          <a:p>
            <a:pPr algn="l" marL="1209039" indent="-403013" lvl="2">
              <a:lnSpc>
                <a:spcPts val="3919"/>
              </a:lnSpc>
              <a:buAutoNum type="alphaLcPeriod" startAt="1"/>
            </a:pPr>
            <a:r>
              <a:rPr lang="en-US" sz="2799" u="none">
                <a:solidFill>
                  <a:srgbClr val="000000"/>
                </a:solidFill>
                <a:latin typeface="Garet"/>
                <a:ea typeface="Garet"/>
                <a:cs typeface="Garet"/>
                <a:sym typeface="Garet"/>
              </a:rPr>
              <a:t>KARDINALIT</a:t>
            </a:r>
            <a:r>
              <a:rPr lang="en-US" sz="2799" u="none">
                <a:solidFill>
                  <a:srgbClr val="000000"/>
                </a:solidFill>
                <a:latin typeface="Garet"/>
                <a:ea typeface="Garet"/>
                <a:cs typeface="Garet"/>
                <a:sym typeface="Garet"/>
              </a:rPr>
              <a:t>AS: ONE-TO-MANY.</a:t>
            </a:r>
          </a:p>
          <a:p>
            <a:pPr algn="l" marL="1209039" indent="-403013" lvl="2">
              <a:lnSpc>
                <a:spcPts val="3919"/>
              </a:lnSpc>
              <a:buAutoNum type="alphaLcPeriod" startAt="1"/>
            </a:pPr>
            <a:r>
              <a:rPr lang="en-US" sz="2799" u="none">
                <a:solidFill>
                  <a:srgbClr val="000000"/>
                </a:solidFill>
                <a:latin typeface="Garet"/>
                <a:ea typeface="Garet"/>
                <a:cs typeface="Garet"/>
                <a:sym typeface="Garet"/>
              </a:rPr>
              <a:t>PENJELASAN: SATU PEGAWAI DINILAI KINERJANYA SETIAP SEMESTER (BANYAK RECORD PENILAIAN).</a:t>
            </a:r>
          </a:p>
          <a:p>
            <a:pPr algn="l" marL="604519" indent="-302260" lvl="1">
              <a:lnSpc>
                <a:spcPts val="3919"/>
              </a:lnSpc>
              <a:buFont typeface="Arial"/>
              <a:buChar char="•"/>
            </a:pPr>
          </a:p>
        </p:txBody>
      </p:sp>
      <p:sp>
        <p:nvSpPr>
          <p:cNvPr name="Freeform 6" id="6"/>
          <p:cNvSpPr/>
          <p:nvPr/>
        </p:nvSpPr>
        <p:spPr>
          <a:xfrm flipH="false" flipV="false" rot="0">
            <a:off x="-1349757" y="85805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7551854"/>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113919" y="7551854"/>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5152757" y="1748908"/>
            <a:ext cx="6547829" cy="6656169"/>
          </a:xfrm>
          <a:custGeom>
            <a:avLst/>
            <a:gdLst/>
            <a:ahLst/>
            <a:cxnLst/>
            <a:rect r="r" b="b" t="t" l="l"/>
            <a:pathLst>
              <a:path h="6656169" w="6547829">
                <a:moveTo>
                  <a:pt x="0" y="0"/>
                </a:moveTo>
                <a:lnTo>
                  <a:pt x="6547829" y="0"/>
                </a:lnTo>
                <a:lnTo>
                  <a:pt x="6547829" y="6656169"/>
                </a:lnTo>
                <a:lnTo>
                  <a:pt x="0" y="6656169"/>
                </a:lnTo>
                <a:lnTo>
                  <a:pt x="0" y="0"/>
                </a:lnTo>
                <a:close/>
              </a:path>
            </a:pathLst>
          </a:custGeom>
          <a:blipFill>
            <a:blip r:embed="rId5"/>
            <a:stretch>
              <a:fillRect l="0" t="0" r="0" b="0"/>
            </a:stretch>
          </a:blipFill>
        </p:spPr>
      </p:sp>
      <p:sp>
        <p:nvSpPr>
          <p:cNvPr name="Freeform 7" id="7"/>
          <p:cNvSpPr/>
          <p:nvPr/>
        </p:nvSpPr>
        <p:spPr>
          <a:xfrm flipH="false" flipV="false" rot="0">
            <a:off x="12923636" y="30195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stretch>
              <a:fillRect l="0" t="0" r="0" b="0"/>
            </a:stretch>
          </a:blipFill>
        </p:spPr>
      </p:sp>
      <p:sp>
        <p:nvSpPr>
          <p:cNvPr name="TextBox 8" id="8"/>
          <p:cNvSpPr txBox="true"/>
          <p:nvPr/>
        </p:nvSpPr>
        <p:spPr>
          <a:xfrm rot="0">
            <a:off x="490552" y="618560"/>
            <a:ext cx="6290762" cy="685465"/>
          </a:xfrm>
          <a:prstGeom prst="rect">
            <a:avLst/>
          </a:prstGeom>
        </p:spPr>
        <p:txBody>
          <a:bodyPr anchor="t" rtlCol="false" tIns="0" lIns="0" bIns="0" rIns="0">
            <a:spAutoFit/>
          </a:bodyPr>
          <a:lstStyle/>
          <a:p>
            <a:pPr algn="l">
              <a:lnSpc>
                <a:spcPts val="2588"/>
              </a:lnSpc>
            </a:pPr>
            <a:r>
              <a:rPr lang="en-US" sz="3318" spc="-262">
                <a:solidFill>
                  <a:srgbClr val="000000"/>
                </a:solidFill>
                <a:latin typeface="Archivo Black"/>
                <a:ea typeface="Archivo Black"/>
                <a:cs typeface="Archivo Black"/>
                <a:sym typeface="Archivo Black"/>
              </a:rPr>
              <a:t>03 Design Konseptual - ERD</a:t>
            </a:r>
          </a:p>
          <a:p>
            <a:pPr algn="l" marL="0" indent="0" lvl="0">
              <a:lnSpc>
                <a:spcPts val="2588"/>
              </a:lnSpc>
              <a:spcBef>
                <a:spcPct val="0"/>
              </a:spcBef>
            </a:pPr>
          </a:p>
        </p:txBody>
      </p:sp>
      <p:sp>
        <p:nvSpPr>
          <p:cNvPr name="TextBox 9" id="9"/>
          <p:cNvSpPr txBox="true"/>
          <p:nvPr/>
        </p:nvSpPr>
        <p:spPr>
          <a:xfrm rot="0">
            <a:off x="816813" y="1366464"/>
            <a:ext cx="3118091" cy="1135455"/>
          </a:xfrm>
          <a:prstGeom prst="rect">
            <a:avLst/>
          </a:prstGeom>
        </p:spPr>
        <p:txBody>
          <a:bodyPr anchor="t" rtlCol="false" tIns="0" lIns="0" bIns="0" rIns="0">
            <a:spAutoFit/>
          </a:bodyPr>
          <a:lstStyle/>
          <a:p>
            <a:pPr algn="l">
              <a:lnSpc>
                <a:spcPts val="4597"/>
              </a:lnSpc>
            </a:pPr>
            <a:r>
              <a:rPr lang="en-US" sz="3283">
                <a:solidFill>
                  <a:srgbClr val="000000"/>
                </a:solidFill>
                <a:latin typeface="Garet"/>
                <a:ea typeface="Garet"/>
                <a:cs typeface="Garet"/>
                <a:sym typeface="Garet"/>
              </a:rPr>
              <a:t>GAMBAR ERD</a:t>
            </a:r>
          </a:p>
          <a:p>
            <a:pPr algn="l">
              <a:lnSpc>
                <a:spcPts val="4597"/>
              </a:lnSpc>
            </a:pPr>
          </a:p>
        </p:txBody>
      </p:sp>
      <p:sp>
        <p:nvSpPr>
          <p:cNvPr name="TextBox 10" id="10"/>
          <p:cNvSpPr txBox="true"/>
          <p:nvPr/>
        </p:nvSpPr>
        <p:spPr>
          <a:xfrm rot="0">
            <a:off x="14113919" y="2625744"/>
            <a:ext cx="6290762" cy="369336"/>
          </a:xfrm>
          <a:prstGeom prst="rect">
            <a:avLst/>
          </a:prstGeom>
        </p:spPr>
        <p:txBody>
          <a:bodyPr anchor="t" rtlCol="false" tIns="0" lIns="0" bIns="0" rIns="0">
            <a:spAutoFit/>
          </a:bodyPr>
          <a:lstStyle/>
          <a:p>
            <a:pPr algn="l" marL="0" indent="0" lvl="0">
              <a:lnSpc>
                <a:spcPts val="2588"/>
              </a:lnSpc>
              <a:spcBef>
                <a:spcPct val="0"/>
              </a:spcBef>
            </a:pPr>
            <a:r>
              <a:rPr lang="en-US" sz="3318" spc="-262">
                <a:solidFill>
                  <a:srgbClr val="000000"/>
                </a:solidFill>
                <a:latin typeface="Archivo Black"/>
                <a:ea typeface="Archivo Black"/>
                <a:cs typeface="Archivo Black"/>
                <a:sym typeface="Archivo Black"/>
              </a:rPr>
              <a:t>QR ERD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398559" y="1438574"/>
            <a:ext cx="3493612" cy="1759510"/>
          </a:xfrm>
          <a:custGeom>
            <a:avLst/>
            <a:gdLst/>
            <a:ahLst/>
            <a:cxnLst/>
            <a:rect r="r" b="b" t="t" l="l"/>
            <a:pathLst>
              <a:path h="1759510" w="3493612">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98559" y="3800774"/>
            <a:ext cx="3493612" cy="3493612"/>
          </a:xfrm>
          <a:custGeom>
            <a:avLst/>
            <a:gdLst/>
            <a:ahLst/>
            <a:cxnLst/>
            <a:rect r="r" b="b" t="t" l="l"/>
            <a:pathLst>
              <a:path h="3493612" w="3493612">
                <a:moveTo>
                  <a:pt x="0" y="0"/>
                </a:moveTo>
                <a:lnTo>
                  <a:pt x="3493612" y="0"/>
                </a:lnTo>
                <a:lnTo>
                  <a:pt x="3493612" y="3493612"/>
                </a:lnTo>
                <a:lnTo>
                  <a:pt x="0" y="34936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0398559" y="7894461"/>
            <a:ext cx="3493612" cy="1200532"/>
          </a:xfrm>
          <a:custGeom>
            <a:avLst/>
            <a:gdLst/>
            <a:ahLst/>
            <a:cxnLst/>
            <a:rect r="r" b="b" t="t" l="l"/>
            <a:pathLst>
              <a:path h="1200532" w="3493612">
                <a:moveTo>
                  <a:pt x="0" y="0"/>
                </a:moveTo>
                <a:lnTo>
                  <a:pt x="3493612" y="0"/>
                </a:lnTo>
                <a:lnTo>
                  <a:pt x="3493612" y="1200532"/>
                </a:lnTo>
                <a:lnTo>
                  <a:pt x="0" y="12005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028700" y="2797107"/>
            <a:ext cx="7847739" cy="5993711"/>
          </a:xfrm>
          <a:custGeom>
            <a:avLst/>
            <a:gdLst/>
            <a:ahLst/>
            <a:cxnLst/>
            <a:rect r="r" b="b" t="t" l="l"/>
            <a:pathLst>
              <a:path h="5993711" w="7847739">
                <a:moveTo>
                  <a:pt x="0" y="0"/>
                </a:moveTo>
                <a:lnTo>
                  <a:pt x="7847739" y="0"/>
                </a:lnTo>
                <a:lnTo>
                  <a:pt x="7847739" y="5993711"/>
                </a:lnTo>
                <a:lnTo>
                  <a:pt x="0" y="5993711"/>
                </a:lnTo>
                <a:lnTo>
                  <a:pt x="0" y="0"/>
                </a:lnTo>
                <a:close/>
              </a:path>
            </a:pathLst>
          </a:custGeom>
          <a:blipFill>
            <a:blip r:embed="rId15"/>
            <a:stretch>
              <a:fillRect l="0" t="0" r="0" b="0"/>
            </a:stretch>
          </a:blipFill>
        </p:spPr>
      </p:sp>
      <p:sp>
        <p:nvSpPr>
          <p:cNvPr name="TextBox 10" id="10"/>
          <p:cNvSpPr txBox="true"/>
          <p:nvPr/>
        </p:nvSpPr>
        <p:spPr>
          <a:xfrm rot="0">
            <a:off x="490364" y="877619"/>
            <a:ext cx="15433127" cy="763524"/>
          </a:xfrm>
          <a:prstGeom prst="rect">
            <a:avLst/>
          </a:prstGeom>
        </p:spPr>
        <p:txBody>
          <a:bodyPr anchor="t" rtlCol="false" tIns="0" lIns="0" bIns="0" rIns="0">
            <a:spAutoFit/>
          </a:bodyPr>
          <a:lstStyle/>
          <a:p>
            <a:pPr algn="l">
              <a:lnSpc>
                <a:spcPts val="2808"/>
              </a:lnSpc>
              <a:spcBef>
                <a:spcPct val="0"/>
              </a:spcBef>
            </a:pPr>
            <a:r>
              <a:rPr lang="en-US" sz="3600" spc="-284">
                <a:solidFill>
                  <a:srgbClr val="000000"/>
                </a:solidFill>
                <a:latin typeface="Archivo Black"/>
                <a:ea typeface="Archivo Black"/>
                <a:cs typeface="Archivo Black"/>
                <a:sym typeface="Archivo Black"/>
              </a:rPr>
              <a:t>04 D</a:t>
            </a:r>
            <a:r>
              <a:rPr lang="en-US" sz="3600" spc="-284" u="none">
                <a:solidFill>
                  <a:srgbClr val="000000"/>
                </a:solidFill>
                <a:latin typeface="Archivo Black"/>
                <a:ea typeface="Archivo Black"/>
                <a:cs typeface="Archivo Black"/>
                <a:sym typeface="Archivo Black"/>
              </a:rPr>
              <a:t>esain Logikal - Dimensional Model</a:t>
            </a:r>
          </a:p>
          <a:p>
            <a:pPr algn="l" marL="0" indent="0" lvl="0">
              <a:lnSpc>
                <a:spcPts val="2808"/>
              </a:lnSpc>
              <a:spcBef>
                <a:spcPct val="0"/>
              </a:spcBef>
            </a:pPr>
          </a:p>
        </p:txBody>
      </p:sp>
      <p:sp>
        <p:nvSpPr>
          <p:cNvPr name="TextBox 11" id="11"/>
          <p:cNvSpPr txBox="true"/>
          <p:nvPr/>
        </p:nvSpPr>
        <p:spPr>
          <a:xfrm rot="0">
            <a:off x="1184331" y="1784018"/>
            <a:ext cx="5018013" cy="707728"/>
          </a:xfrm>
          <a:prstGeom prst="rect">
            <a:avLst/>
          </a:prstGeom>
        </p:spPr>
        <p:txBody>
          <a:bodyPr anchor="t" rtlCol="false" tIns="0" lIns="0" bIns="0" rIns="0">
            <a:spAutoFit/>
          </a:bodyPr>
          <a:lstStyle/>
          <a:p>
            <a:pPr algn="l">
              <a:lnSpc>
                <a:spcPts val="2688"/>
              </a:lnSpc>
              <a:spcBef>
                <a:spcPct val="0"/>
              </a:spcBef>
            </a:pPr>
            <a:r>
              <a:rPr lang="en-US" sz="3446" spc="-272">
                <a:solidFill>
                  <a:srgbClr val="000000"/>
                </a:solidFill>
                <a:latin typeface="Garet"/>
                <a:ea typeface="Garet"/>
                <a:cs typeface="Garet"/>
                <a:sym typeface="Garet"/>
              </a:rPr>
              <a:t>Id</a:t>
            </a:r>
            <a:r>
              <a:rPr lang="en-US" sz="3446" spc="-272" u="none">
                <a:solidFill>
                  <a:srgbClr val="000000"/>
                </a:solidFill>
                <a:latin typeface="Garet"/>
                <a:ea typeface="Garet"/>
                <a:cs typeface="Garet"/>
                <a:sym typeface="Garet"/>
              </a:rPr>
              <a:t>entifikasi Fact Tables</a:t>
            </a:r>
          </a:p>
          <a:p>
            <a:pPr algn="l" marL="0" indent="0" lvl="0">
              <a:lnSpc>
                <a:spcPts val="2688"/>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398559" y="1438574"/>
            <a:ext cx="3493612" cy="1759510"/>
          </a:xfrm>
          <a:custGeom>
            <a:avLst/>
            <a:gdLst/>
            <a:ahLst/>
            <a:cxnLst/>
            <a:rect r="r" b="b" t="t" l="l"/>
            <a:pathLst>
              <a:path h="1759510" w="3493612">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98559" y="3800774"/>
            <a:ext cx="3493612" cy="3493612"/>
          </a:xfrm>
          <a:custGeom>
            <a:avLst/>
            <a:gdLst/>
            <a:ahLst/>
            <a:cxnLst/>
            <a:rect r="r" b="b" t="t" l="l"/>
            <a:pathLst>
              <a:path h="3493612" w="3493612">
                <a:moveTo>
                  <a:pt x="0" y="0"/>
                </a:moveTo>
                <a:lnTo>
                  <a:pt x="3493612" y="0"/>
                </a:lnTo>
                <a:lnTo>
                  <a:pt x="3493612" y="3493612"/>
                </a:lnTo>
                <a:lnTo>
                  <a:pt x="0" y="34936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0398559" y="7894461"/>
            <a:ext cx="3493612" cy="1200532"/>
          </a:xfrm>
          <a:custGeom>
            <a:avLst/>
            <a:gdLst/>
            <a:ahLst/>
            <a:cxnLst/>
            <a:rect r="r" b="b" t="t" l="l"/>
            <a:pathLst>
              <a:path h="1200532" w="3493612">
                <a:moveTo>
                  <a:pt x="0" y="0"/>
                </a:moveTo>
                <a:lnTo>
                  <a:pt x="3493612" y="0"/>
                </a:lnTo>
                <a:lnTo>
                  <a:pt x="3493612" y="1200532"/>
                </a:lnTo>
                <a:lnTo>
                  <a:pt x="0" y="12005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291441" y="2444255"/>
            <a:ext cx="6915486" cy="6206649"/>
          </a:xfrm>
          <a:custGeom>
            <a:avLst/>
            <a:gdLst/>
            <a:ahLst/>
            <a:cxnLst/>
            <a:rect r="r" b="b" t="t" l="l"/>
            <a:pathLst>
              <a:path h="6206649" w="6915486">
                <a:moveTo>
                  <a:pt x="0" y="0"/>
                </a:moveTo>
                <a:lnTo>
                  <a:pt x="6915486" y="0"/>
                </a:lnTo>
                <a:lnTo>
                  <a:pt x="6915486" y="6206649"/>
                </a:lnTo>
                <a:lnTo>
                  <a:pt x="0" y="6206649"/>
                </a:lnTo>
                <a:lnTo>
                  <a:pt x="0" y="0"/>
                </a:lnTo>
                <a:close/>
              </a:path>
            </a:pathLst>
          </a:custGeom>
          <a:blipFill>
            <a:blip r:embed="rId15"/>
            <a:stretch>
              <a:fillRect l="0" t="0" r="0" b="0"/>
            </a:stretch>
          </a:blipFill>
        </p:spPr>
      </p:sp>
      <p:sp>
        <p:nvSpPr>
          <p:cNvPr name="TextBox 10" id="10"/>
          <p:cNvSpPr txBox="true"/>
          <p:nvPr/>
        </p:nvSpPr>
        <p:spPr>
          <a:xfrm rot="0">
            <a:off x="490364" y="877619"/>
            <a:ext cx="15433127" cy="763524"/>
          </a:xfrm>
          <a:prstGeom prst="rect">
            <a:avLst/>
          </a:prstGeom>
        </p:spPr>
        <p:txBody>
          <a:bodyPr anchor="t" rtlCol="false" tIns="0" lIns="0" bIns="0" rIns="0">
            <a:spAutoFit/>
          </a:bodyPr>
          <a:lstStyle/>
          <a:p>
            <a:pPr algn="l">
              <a:lnSpc>
                <a:spcPts val="2808"/>
              </a:lnSpc>
              <a:spcBef>
                <a:spcPct val="0"/>
              </a:spcBef>
            </a:pPr>
            <a:r>
              <a:rPr lang="en-US" sz="3600" spc="-284">
                <a:solidFill>
                  <a:srgbClr val="000000"/>
                </a:solidFill>
                <a:latin typeface="Archivo Black"/>
                <a:ea typeface="Archivo Black"/>
                <a:cs typeface="Archivo Black"/>
                <a:sym typeface="Archivo Black"/>
              </a:rPr>
              <a:t>04 D</a:t>
            </a:r>
            <a:r>
              <a:rPr lang="en-US" sz="3600" spc="-284" u="none">
                <a:solidFill>
                  <a:srgbClr val="000000"/>
                </a:solidFill>
                <a:latin typeface="Archivo Black"/>
                <a:ea typeface="Archivo Black"/>
                <a:cs typeface="Archivo Black"/>
                <a:sym typeface="Archivo Black"/>
              </a:rPr>
              <a:t>esain Logikal - Dimensional Model</a:t>
            </a:r>
          </a:p>
          <a:p>
            <a:pPr algn="l" marL="0" indent="0" lvl="0">
              <a:lnSpc>
                <a:spcPts val="2808"/>
              </a:lnSpc>
              <a:spcBef>
                <a:spcPct val="0"/>
              </a:spcBef>
            </a:pPr>
          </a:p>
        </p:txBody>
      </p:sp>
      <p:sp>
        <p:nvSpPr>
          <p:cNvPr name="TextBox 11" id="11"/>
          <p:cNvSpPr txBox="true"/>
          <p:nvPr/>
        </p:nvSpPr>
        <p:spPr>
          <a:xfrm rot="0">
            <a:off x="1184331" y="1784018"/>
            <a:ext cx="7022597" cy="707728"/>
          </a:xfrm>
          <a:prstGeom prst="rect">
            <a:avLst/>
          </a:prstGeom>
        </p:spPr>
        <p:txBody>
          <a:bodyPr anchor="t" rtlCol="false" tIns="0" lIns="0" bIns="0" rIns="0">
            <a:spAutoFit/>
          </a:bodyPr>
          <a:lstStyle/>
          <a:p>
            <a:pPr algn="l">
              <a:lnSpc>
                <a:spcPts val="2688"/>
              </a:lnSpc>
              <a:spcBef>
                <a:spcPct val="0"/>
              </a:spcBef>
            </a:pPr>
            <a:r>
              <a:rPr lang="en-US" sz="3446" spc="-272">
                <a:solidFill>
                  <a:srgbClr val="000000"/>
                </a:solidFill>
                <a:latin typeface="Garet"/>
                <a:ea typeface="Garet"/>
                <a:cs typeface="Garet"/>
                <a:sym typeface="Garet"/>
              </a:rPr>
              <a:t>Id</a:t>
            </a:r>
            <a:r>
              <a:rPr lang="en-US" sz="3446" spc="-272" u="none">
                <a:solidFill>
                  <a:srgbClr val="000000"/>
                </a:solidFill>
                <a:latin typeface="Garet"/>
                <a:ea typeface="Garet"/>
                <a:cs typeface="Garet"/>
                <a:sym typeface="Garet"/>
              </a:rPr>
              <a:t>entifikasi Dimension Tables</a:t>
            </a:r>
          </a:p>
          <a:p>
            <a:pPr algn="l" marL="0" indent="0" lvl="0">
              <a:lnSpc>
                <a:spcPts val="2688"/>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84331" y="2261295"/>
            <a:ext cx="6855480" cy="6997005"/>
          </a:xfrm>
          <a:custGeom>
            <a:avLst/>
            <a:gdLst/>
            <a:ahLst/>
            <a:cxnLst/>
            <a:rect r="r" b="b" t="t" l="l"/>
            <a:pathLst>
              <a:path h="6997005" w="6855480">
                <a:moveTo>
                  <a:pt x="0" y="0"/>
                </a:moveTo>
                <a:lnTo>
                  <a:pt x="6855480" y="0"/>
                </a:lnTo>
                <a:lnTo>
                  <a:pt x="6855480" y="6997005"/>
                </a:lnTo>
                <a:lnTo>
                  <a:pt x="0" y="6997005"/>
                </a:lnTo>
                <a:lnTo>
                  <a:pt x="0" y="0"/>
                </a:lnTo>
                <a:close/>
              </a:path>
            </a:pathLst>
          </a:custGeom>
          <a:blipFill>
            <a:blip r:embed="rId9"/>
            <a:stretch>
              <a:fillRect l="0" t="0" r="0" b="0"/>
            </a:stretch>
          </a:blipFill>
        </p:spPr>
      </p:sp>
      <p:sp>
        <p:nvSpPr>
          <p:cNvPr name="Freeform 7" id="7"/>
          <p:cNvSpPr/>
          <p:nvPr/>
        </p:nvSpPr>
        <p:spPr>
          <a:xfrm flipH="false" flipV="false" rot="0">
            <a:off x="9144000" y="4251795"/>
            <a:ext cx="3748678" cy="3748678"/>
          </a:xfrm>
          <a:custGeom>
            <a:avLst/>
            <a:gdLst/>
            <a:ahLst/>
            <a:cxnLst/>
            <a:rect r="r" b="b" t="t" l="l"/>
            <a:pathLst>
              <a:path h="3748678" w="3748678">
                <a:moveTo>
                  <a:pt x="0" y="0"/>
                </a:moveTo>
                <a:lnTo>
                  <a:pt x="3748678" y="0"/>
                </a:lnTo>
                <a:lnTo>
                  <a:pt x="3748678" y="3748678"/>
                </a:lnTo>
                <a:lnTo>
                  <a:pt x="0" y="3748678"/>
                </a:lnTo>
                <a:lnTo>
                  <a:pt x="0" y="0"/>
                </a:lnTo>
                <a:close/>
              </a:path>
            </a:pathLst>
          </a:custGeom>
          <a:blipFill>
            <a:blip r:embed="rId10"/>
            <a:stretch>
              <a:fillRect l="0" t="0" r="0" b="0"/>
            </a:stretch>
          </a:blipFill>
        </p:spPr>
      </p:sp>
      <p:sp>
        <p:nvSpPr>
          <p:cNvPr name="TextBox 8" id="8"/>
          <p:cNvSpPr txBox="true"/>
          <p:nvPr/>
        </p:nvSpPr>
        <p:spPr>
          <a:xfrm rot="0">
            <a:off x="490364" y="877619"/>
            <a:ext cx="15433127" cy="763524"/>
          </a:xfrm>
          <a:prstGeom prst="rect">
            <a:avLst/>
          </a:prstGeom>
        </p:spPr>
        <p:txBody>
          <a:bodyPr anchor="t" rtlCol="false" tIns="0" lIns="0" bIns="0" rIns="0">
            <a:spAutoFit/>
          </a:bodyPr>
          <a:lstStyle/>
          <a:p>
            <a:pPr algn="l">
              <a:lnSpc>
                <a:spcPts val="2808"/>
              </a:lnSpc>
              <a:spcBef>
                <a:spcPct val="0"/>
              </a:spcBef>
            </a:pPr>
            <a:r>
              <a:rPr lang="en-US" sz="3600" spc="-284">
                <a:solidFill>
                  <a:srgbClr val="000000"/>
                </a:solidFill>
                <a:latin typeface="Archivo Black"/>
                <a:ea typeface="Archivo Black"/>
                <a:cs typeface="Archivo Black"/>
                <a:sym typeface="Archivo Black"/>
              </a:rPr>
              <a:t>04 D</a:t>
            </a:r>
            <a:r>
              <a:rPr lang="en-US" sz="3600" spc="-284" u="none">
                <a:solidFill>
                  <a:srgbClr val="000000"/>
                </a:solidFill>
                <a:latin typeface="Archivo Black"/>
                <a:ea typeface="Archivo Black"/>
                <a:cs typeface="Archivo Black"/>
                <a:sym typeface="Archivo Black"/>
              </a:rPr>
              <a:t>esain Logikal - Dimensional Model</a:t>
            </a:r>
          </a:p>
          <a:p>
            <a:pPr algn="l" marL="0" indent="0" lvl="0">
              <a:lnSpc>
                <a:spcPts val="2808"/>
              </a:lnSpc>
              <a:spcBef>
                <a:spcPct val="0"/>
              </a:spcBef>
            </a:pPr>
          </a:p>
        </p:txBody>
      </p:sp>
      <p:sp>
        <p:nvSpPr>
          <p:cNvPr name="TextBox 9" id="9"/>
          <p:cNvSpPr txBox="true"/>
          <p:nvPr/>
        </p:nvSpPr>
        <p:spPr>
          <a:xfrm rot="0">
            <a:off x="1184331" y="1525404"/>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u="none">
                <a:solidFill>
                  <a:srgbClr val="000000"/>
                </a:solidFill>
                <a:latin typeface="Garet"/>
                <a:ea typeface="Garet"/>
                <a:cs typeface="Garet"/>
                <a:sym typeface="Garet"/>
              </a:rPr>
              <a:t>Desain Galaxy Schema</a:t>
            </a:r>
          </a:p>
        </p:txBody>
      </p:sp>
      <p:sp>
        <p:nvSpPr>
          <p:cNvPr name="TextBox 10" id="10"/>
          <p:cNvSpPr txBox="true"/>
          <p:nvPr/>
        </p:nvSpPr>
        <p:spPr>
          <a:xfrm rot="0">
            <a:off x="9542736" y="3744764"/>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QR Schema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398559" y="1438574"/>
            <a:ext cx="3493612" cy="1759510"/>
          </a:xfrm>
          <a:custGeom>
            <a:avLst/>
            <a:gdLst/>
            <a:ahLst/>
            <a:cxnLst/>
            <a:rect r="r" b="b" t="t" l="l"/>
            <a:pathLst>
              <a:path h="1759510" w="3493612">
                <a:moveTo>
                  <a:pt x="0" y="0"/>
                </a:moveTo>
                <a:lnTo>
                  <a:pt x="3493612" y="0"/>
                </a:lnTo>
                <a:lnTo>
                  <a:pt x="3493612" y="1759510"/>
                </a:lnTo>
                <a:lnTo>
                  <a:pt x="0" y="17595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398559" y="3800774"/>
            <a:ext cx="3493612" cy="3493612"/>
          </a:xfrm>
          <a:custGeom>
            <a:avLst/>
            <a:gdLst/>
            <a:ahLst/>
            <a:cxnLst/>
            <a:rect r="r" b="b" t="t" l="l"/>
            <a:pathLst>
              <a:path h="3493612" w="3493612">
                <a:moveTo>
                  <a:pt x="0" y="0"/>
                </a:moveTo>
                <a:lnTo>
                  <a:pt x="3493612" y="0"/>
                </a:lnTo>
                <a:lnTo>
                  <a:pt x="3493612" y="3493612"/>
                </a:lnTo>
                <a:lnTo>
                  <a:pt x="0" y="34936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0398559" y="7894461"/>
            <a:ext cx="3493612" cy="1200532"/>
          </a:xfrm>
          <a:custGeom>
            <a:avLst/>
            <a:gdLst/>
            <a:ahLst/>
            <a:cxnLst/>
            <a:rect r="r" b="b" t="t" l="l"/>
            <a:pathLst>
              <a:path h="1200532" w="3493612">
                <a:moveTo>
                  <a:pt x="0" y="0"/>
                </a:moveTo>
                <a:lnTo>
                  <a:pt x="3493612" y="0"/>
                </a:lnTo>
                <a:lnTo>
                  <a:pt x="3493612" y="1200532"/>
                </a:lnTo>
                <a:lnTo>
                  <a:pt x="0" y="12005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594444" y="2958385"/>
            <a:ext cx="9070690" cy="5771226"/>
          </a:xfrm>
          <a:custGeom>
            <a:avLst/>
            <a:gdLst/>
            <a:ahLst/>
            <a:cxnLst/>
            <a:rect r="r" b="b" t="t" l="l"/>
            <a:pathLst>
              <a:path h="5771226" w="9070690">
                <a:moveTo>
                  <a:pt x="0" y="0"/>
                </a:moveTo>
                <a:lnTo>
                  <a:pt x="9070690" y="0"/>
                </a:lnTo>
                <a:lnTo>
                  <a:pt x="9070690" y="5771226"/>
                </a:lnTo>
                <a:lnTo>
                  <a:pt x="0" y="5771226"/>
                </a:lnTo>
                <a:lnTo>
                  <a:pt x="0" y="0"/>
                </a:lnTo>
                <a:close/>
              </a:path>
            </a:pathLst>
          </a:custGeom>
          <a:blipFill>
            <a:blip r:embed="rId15"/>
            <a:stretch>
              <a:fillRect l="0" t="0" r="0" b="0"/>
            </a:stretch>
          </a:blipFill>
        </p:spPr>
      </p:sp>
      <p:sp>
        <p:nvSpPr>
          <p:cNvPr name="TextBox 10" id="10"/>
          <p:cNvSpPr txBox="true"/>
          <p:nvPr/>
        </p:nvSpPr>
        <p:spPr>
          <a:xfrm rot="0">
            <a:off x="520659" y="713613"/>
            <a:ext cx="15433127" cy="763524"/>
          </a:xfrm>
          <a:prstGeom prst="rect">
            <a:avLst/>
          </a:prstGeom>
        </p:spPr>
        <p:txBody>
          <a:bodyPr anchor="t" rtlCol="false" tIns="0" lIns="0" bIns="0" rIns="0">
            <a:spAutoFit/>
          </a:bodyPr>
          <a:lstStyle/>
          <a:p>
            <a:pPr algn="l">
              <a:lnSpc>
                <a:spcPts val="2808"/>
              </a:lnSpc>
              <a:spcBef>
                <a:spcPct val="0"/>
              </a:spcBef>
            </a:pPr>
            <a:r>
              <a:rPr lang="en-US" sz="3600" spc="-284">
                <a:solidFill>
                  <a:srgbClr val="000000"/>
                </a:solidFill>
                <a:latin typeface="Archivo Black"/>
                <a:ea typeface="Archivo Black"/>
                <a:cs typeface="Archivo Black"/>
                <a:sym typeface="Archivo Black"/>
              </a:rPr>
              <a:t>04 D</a:t>
            </a:r>
            <a:r>
              <a:rPr lang="en-US" sz="3600" spc="-284" u="none">
                <a:solidFill>
                  <a:srgbClr val="000000"/>
                </a:solidFill>
                <a:latin typeface="Archivo Black"/>
                <a:ea typeface="Archivo Black"/>
                <a:cs typeface="Archivo Black"/>
                <a:sym typeface="Archivo Black"/>
              </a:rPr>
              <a:t>esain Logikal - Dimensional Model</a:t>
            </a:r>
          </a:p>
          <a:p>
            <a:pPr algn="l" marL="0" indent="0" lvl="0">
              <a:lnSpc>
                <a:spcPts val="2808"/>
              </a:lnSpc>
              <a:spcBef>
                <a:spcPct val="0"/>
              </a:spcBef>
            </a:pPr>
          </a:p>
        </p:txBody>
      </p:sp>
      <p:sp>
        <p:nvSpPr>
          <p:cNvPr name="TextBox 11" id="11"/>
          <p:cNvSpPr txBox="true"/>
          <p:nvPr/>
        </p:nvSpPr>
        <p:spPr>
          <a:xfrm rot="0">
            <a:off x="1184331" y="1581449"/>
            <a:ext cx="7709971" cy="168880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M</a:t>
            </a:r>
            <a:r>
              <a:rPr lang="en-US" sz="3446" spc="-272" u="none">
                <a:solidFill>
                  <a:srgbClr val="000000"/>
                </a:solidFill>
                <a:latin typeface="Garet"/>
                <a:ea typeface="Garet"/>
                <a:cs typeface="Garet"/>
                <a:sym typeface="Garet"/>
              </a:rPr>
              <a:t>enentukan Surrogate Keys</a:t>
            </a:r>
          </a:p>
          <a:p>
            <a:pPr algn="l" marL="0" indent="0" lvl="0">
              <a:lnSpc>
                <a:spcPts val="2688"/>
              </a:lnSpc>
              <a:spcBef>
                <a:spcPct val="0"/>
              </a:spcBef>
            </a:pPr>
          </a:p>
          <a:p>
            <a:pPr algn="l" marL="690881" indent="-345440" lvl="1">
              <a:lnSpc>
                <a:spcPts val="2496"/>
              </a:lnSpc>
              <a:buFont typeface="Arial"/>
              <a:buChar char="•"/>
            </a:pPr>
            <a:r>
              <a:rPr lang="en-US" sz="3200" spc="-252" u="none">
                <a:solidFill>
                  <a:srgbClr val="000000"/>
                </a:solidFill>
                <a:latin typeface="Garet"/>
                <a:ea typeface="Garet"/>
                <a:cs typeface="Garet"/>
                <a:sym typeface="Garet"/>
              </a:rPr>
              <a:t>Surrogate Keys pada Tabel Dimensi</a:t>
            </a:r>
          </a:p>
          <a:p>
            <a:pPr algn="l">
              <a:lnSpc>
                <a:spcPts val="2688"/>
              </a:lnSpc>
              <a:spcBef>
                <a:spcPct val="0"/>
              </a:spcBef>
            </a:pPr>
          </a:p>
          <a:p>
            <a:pPr algn="l" marL="0" indent="0" lvl="0">
              <a:lnSpc>
                <a:spcPts val="2688"/>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382653" y="2580001"/>
            <a:ext cx="10953616" cy="6873394"/>
          </a:xfrm>
          <a:custGeom>
            <a:avLst/>
            <a:gdLst/>
            <a:ahLst/>
            <a:cxnLst/>
            <a:rect r="r" b="b" t="t" l="l"/>
            <a:pathLst>
              <a:path h="6873394" w="10953616">
                <a:moveTo>
                  <a:pt x="0" y="0"/>
                </a:moveTo>
                <a:lnTo>
                  <a:pt x="10953616" y="0"/>
                </a:lnTo>
                <a:lnTo>
                  <a:pt x="10953616" y="6873394"/>
                </a:lnTo>
                <a:lnTo>
                  <a:pt x="0" y="6873394"/>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Dim_Date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5" id="5"/>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Dim_Employee</a:t>
            </a:r>
          </a:p>
        </p:txBody>
      </p:sp>
      <p:sp>
        <p:nvSpPr>
          <p:cNvPr name="Freeform 6" id="6"/>
          <p:cNvSpPr/>
          <p:nvPr/>
        </p:nvSpPr>
        <p:spPr>
          <a:xfrm flipH="false" flipV="false" rot="0">
            <a:off x="2732902" y="2626804"/>
            <a:ext cx="9264014" cy="6912011"/>
          </a:xfrm>
          <a:custGeom>
            <a:avLst/>
            <a:gdLst/>
            <a:ahLst/>
            <a:cxnLst/>
            <a:rect r="r" b="b" t="t" l="l"/>
            <a:pathLst>
              <a:path h="6912011" w="9264014">
                <a:moveTo>
                  <a:pt x="0" y="0"/>
                </a:moveTo>
                <a:lnTo>
                  <a:pt x="9264014" y="0"/>
                </a:lnTo>
                <a:lnTo>
                  <a:pt x="9264014" y="6912010"/>
                </a:lnTo>
                <a:lnTo>
                  <a:pt x="0" y="6912010"/>
                </a:lnTo>
                <a:lnTo>
                  <a:pt x="0" y="0"/>
                </a:lnTo>
                <a:close/>
              </a:path>
            </a:pathLst>
          </a:custGeom>
          <a:blipFill>
            <a:blip r:embed="rId5"/>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5" id="5"/>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Dim_Unit</a:t>
            </a:r>
          </a:p>
        </p:txBody>
      </p:sp>
      <p:sp>
        <p:nvSpPr>
          <p:cNvPr name="Freeform 6" id="6"/>
          <p:cNvSpPr/>
          <p:nvPr/>
        </p:nvSpPr>
        <p:spPr>
          <a:xfrm flipH="false" flipV="false" rot="0">
            <a:off x="2639798" y="2580001"/>
            <a:ext cx="13008404" cy="6748109"/>
          </a:xfrm>
          <a:custGeom>
            <a:avLst/>
            <a:gdLst/>
            <a:ahLst/>
            <a:cxnLst/>
            <a:rect r="r" b="b" t="t" l="l"/>
            <a:pathLst>
              <a:path h="6748109" w="13008404">
                <a:moveTo>
                  <a:pt x="0" y="0"/>
                </a:moveTo>
                <a:lnTo>
                  <a:pt x="13008404" y="0"/>
                </a:lnTo>
                <a:lnTo>
                  <a:pt x="13008404" y="6748110"/>
                </a:lnTo>
                <a:lnTo>
                  <a:pt x="0" y="6748110"/>
                </a:lnTo>
                <a:lnTo>
                  <a:pt x="0" y="0"/>
                </a:lnTo>
                <a:close/>
              </a:path>
            </a:pathLst>
          </a:custGeom>
          <a:blipFill>
            <a:blip r:embed="rId5"/>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527133" y="2580001"/>
            <a:ext cx="10995811" cy="7094537"/>
          </a:xfrm>
          <a:custGeom>
            <a:avLst/>
            <a:gdLst/>
            <a:ahLst/>
            <a:cxnLst/>
            <a:rect r="r" b="b" t="t" l="l"/>
            <a:pathLst>
              <a:path h="7094537" w="10995811">
                <a:moveTo>
                  <a:pt x="0" y="0"/>
                </a:moveTo>
                <a:lnTo>
                  <a:pt x="10995811" y="0"/>
                </a:lnTo>
                <a:lnTo>
                  <a:pt x="10995811" y="7094538"/>
                </a:lnTo>
                <a:lnTo>
                  <a:pt x="0" y="7094538"/>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Dim_Position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548528" y="2580001"/>
            <a:ext cx="12045603" cy="6235371"/>
          </a:xfrm>
          <a:custGeom>
            <a:avLst/>
            <a:gdLst/>
            <a:ahLst/>
            <a:cxnLst/>
            <a:rect r="r" b="b" t="t" l="l"/>
            <a:pathLst>
              <a:path h="6235371" w="12045603">
                <a:moveTo>
                  <a:pt x="0" y="0"/>
                </a:moveTo>
                <a:lnTo>
                  <a:pt x="12045604" y="0"/>
                </a:lnTo>
                <a:lnTo>
                  <a:pt x="12045604" y="6235371"/>
                </a:lnTo>
                <a:lnTo>
                  <a:pt x="0" y="6235371"/>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Dim_Rank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706849" y="2580001"/>
            <a:ext cx="7919002" cy="6546238"/>
          </a:xfrm>
          <a:custGeom>
            <a:avLst/>
            <a:gdLst/>
            <a:ahLst/>
            <a:cxnLst/>
            <a:rect r="r" b="b" t="t" l="l"/>
            <a:pathLst>
              <a:path h="6546238" w="7919002">
                <a:moveTo>
                  <a:pt x="0" y="0"/>
                </a:moveTo>
                <a:lnTo>
                  <a:pt x="7919002" y="0"/>
                </a:lnTo>
                <a:lnTo>
                  <a:pt x="7919002" y="6546239"/>
                </a:lnTo>
                <a:lnTo>
                  <a:pt x="0" y="6546239"/>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Fact_Attendance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571652" y="2580001"/>
            <a:ext cx="10493745" cy="7253801"/>
          </a:xfrm>
          <a:custGeom>
            <a:avLst/>
            <a:gdLst/>
            <a:ahLst/>
            <a:cxnLst/>
            <a:rect r="r" b="b" t="t" l="l"/>
            <a:pathLst>
              <a:path h="7253801" w="10493745">
                <a:moveTo>
                  <a:pt x="0" y="0"/>
                </a:moveTo>
                <a:lnTo>
                  <a:pt x="10493745" y="0"/>
                </a:lnTo>
                <a:lnTo>
                  <a:pt x="10493745" y="7253802"/>
                </a:lnTo>
                <a:lnTo>
                  <a:pt x="0" y="7253802"/>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4982840"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Fact_Performance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6646638" y="8172833"/>
            <a:ext cx="1641362" cy="2114167"/>
          </a:xfrm>
          <a:custGeom>
            <a:avLst/>
            <a:gdLst/>
            <a:ahLst/>
            <a:cxnLst/>
            <a:rect r="r" b="b" t="t" l="l"/>
            <a:pathLst>
              <a:path h="2114167" w="1641362">
                <a:moveTo>
                  <a:pt x="0" y="0"/>
                </a:moveTo>
                <a:lnTo>
                  <a:pt x="1641362" y="0"/>
                </a:lnTo>
                <a:lnTo>
                  <a:pt x="1641362" y="2114167"/>
                </a:lnTo>
                <a:lnTo>
                  <a:pt x="0" y="21141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510240" y="2580001"/>
            <a:ext cx="9332472" cy="7407650"/>
          </a:xfrm>
          <a:custGeom>
            <a:avLst/>
            <a:gdLst/>
            <a:ahLst/>
            <a:cxnLst/>
            <a:rect r="r" b="b" t="t" l="l"/>
            <a:pathLst>
              <a:path h="7407650" w="9332472">
                <a:moveTo>
                  <a:pt x="0" y="0"/>
                </a:moveTo>
                <a:lnTo>
                  <a:pt x="9332473" y="0"/>
                </a:lnTo>
                <a:lnTo>
                  <a:pt x="9332473" y="7407650"/>
                </a:lnTo>
                <a:lnTo>
                  <a:pt x="0" y="7407650"/>
                </a:lnTo>
                <a:lnTo>
                  <a:pt x="0" y="0"/>
                </a:lnTo>
                <a:close/>
              </a:path>
            </a:pathLst>
          </a:custGeom>
          <a:blipFill>
            <a:blip r:embed="rId5"/>
            <a:stretch>
              <a:fillRect l="0" t="0" r="0" b="0"/>
            </a:stretch>
          </a:blipFill>
        </p:spPr>
      </p:sp>
      <p:sp>
        <p:nvSpPr>
          <p:cNvPr name="TextBox 5" id="5"/>
          <p:cNvSpPr txBox="true"/>
          <p:nvPr/>
        </p:nvSpPr>
        <p:spPr>
          <a:xfrm rot="0">
            <a:off x="1028700" y="1247775"/>
            <a:ext cx="7837112" cy="12337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05 Data Dictionary</a:t>
            </a:r>
          </a:p>
          <a:p>
            <a:pPr algn="l" marL="0" indent="0" lvl="0">
              <a:lnSpc>
                <a:spcPts val="4530"/>
              </a:lnSpc>
              <a:spcBef>
                <a:spcPct val="0"/>
              </a:spcBef>
            </a:pPr>
          </a:p>
        </p:txBody>
      </p:sp>
      <p:sp>
        <p:nvSpPr>
          <p:cNvPr name="TextBox 6" id="6"/>
          <p:cNvSpPr txBox="true"/>
          <p:nvPr/>
        </p:nvSpPr>
        <p:spPr>
          <a:xfrm rot="0">
            <a:off x="1582084" y="2162538"/>
            <a:ext cx="6133658" cy="417464"/>
          </a:xfrm>
          <a:prstGeom prst="rect">
            <a:avLst/>
          </a:prstGeom>
        </p:spPr>
        <p:txBody>
          <a:bodyPr anchor="t" rtlCol="false" tIns="0" lIns="0" bIns="0" rIns="0">
            <a:spAutoFit/>
          </a:bodyPr>
          <a:lstStyle/>
          <a:p>
            <a:pPr algn="l" marL="0" indent="0" lvl="0">
              <a:lnSpc>
                <a:spcPts val="2880"/>
              </a:lnSpc>
              <a:spcBef>
                <a:spcPct val="0"/>
              </a:spcBef>
            </a:pPr>
            <a:r>
              <a:rPr lang="en-US" sz="3692" spc="-291">
                <a:solidFill>
                  <a:srgbClr val="000000"/>
                </a:solidFill>
                <a:latin typeface="Archivo Black"/>
                <a:ea typeface="Archivo Black"/>
                <a:cs typeface="Archivo Black"/>
                <a:sym typeface="Archivo Black"/>
              </a:rPr>
              <a:t>Fact_Employee_Snapshot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490364" y="2210214"/>
            <a:ext cx="9030394" cy="5344864"/>
          </a:xfrm>
          <a:custGeom>
            <a:avLst/>
            <a:gdLst/>
            <a:ahLst/>
            <a:cxnLst/>
            <a:rect r="r" b="b" t="t" l="l"/>
            <a:pathLst>
              <a:path h="5344864" w="9030394">
                <a:moveTo>
                  <a:pt x="0" y="0"/>
                </a:moveTo>
                <a:lnTo>
                  <a:pt x="9030394" y="0"/>
                </a:lnTo>
                <a:lnTo>
                  <a:pt x="9030394" y="5344864"/>
                </a:lnTo>
                <a:lnTo>
                  <a:pt x="0" y="5344864"/>
                </a:lnTo>
                <a:lnTo>
                  <a:pt x="0" y="0"/>
                </a:lnTo>
                <a:close/>
              </a:path>
            </a:pathLst>
          </a:custGeom>
          <a:blipFill>
            <a:blip r:embed="rId9"/>
            <a:stretch>
              <a:fillRect l="0" t="0" r="0" b="0"/>
            </a:stretch>
          </a:blipFill>
        </p:spPr>
      </p:sp>
      <p:sp>
        <p:nvSpPr>
          <p:cNvPr name="TextBox 7" id="7"/>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8" id="8"/>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Komponen &amp; Script yang Digunakan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Komponen &amp; Script yang Digunakan</a:t>
            </a:r>
          </a:p>
        </p:txBody>
      </p:sp>
      <p:sp>
        <p:nvSpPr>
          <p:cNvPr name="TextBox 8" id="8"/>
          <p:cNvSpPr txBox="true"/>
          <p:nvPr/>
        </p:nvSpPr>
        <p:spPr>
          <a:xfrm rot="0">
            <a:off x="490364" y="2060577"/>
            <a:ext cx="11698036" cy="8656981"/>
          </a:xfrm>
          <a:prstGeom prst="rect">
            <a:avLst/>
          </a:prstGeom>
        </p:spPr>
        <p:txBody>
          <a:bodyPr anchor="t" rtlCol="false" tIns="0" lIns="0" bIns="0" rIns="0">
            <a:spAutoFit/>
          </a:bodyPr>
          <a:lstStyle/>
          <a:p>
            <a:pPr algn="l">
              <a:lnSpc>
                <a:spcPts val="3815"/>
              </a:lnSpc>
              <a:spcBef>
                <a:spcPct val="0"/>
              </a:spcBef>
            </a:pPr>
            <a:r>
              <a:rPr lang="en-US" sz="2725" spc="-215">
                <a:solidFill>
                  <a:srgbClr val="000000"/>
                </a:solidFill>
                <a:latin typeface="Garet"/>
                <a:ea typeface="Garet"/>
                <a:cs typeface="Garet"/>
                <a:sym typeface="Garet"/>
              </a:rPr>
              <a:t>Berikut adalah rincian perintah dan logika kunci yang digunakan dalam script:</a:t>
            </a:r>
          </a:p>
          <a:p>
            <a:pPr algn="l">
              <a:lnSpc>
                <a:spcPts val="3815"/>
              </a:lnSpc>
              <a:spcBef>
                <a:spcPct val="0"/>
              </a:spcBef>
            </a:pPr>
          </a:p>
          <a:p>
            <a:pPr algn="l">
              <a:lnSpc>
                <a:spcPts val="3815"/>
              </a:lnSpc>
              <a:spcBef>
                <a:spcPct val="0"/>
              </a:spcBef>
            </a:pPr>
            <a:r>
              <a:rPr lang="en-US" b="true" sz="2725" spc="-215">
                <a:solidFill>
                  <a:srgbClr val="000000"/>
                </a:solidFill>
                <a:latin typeface="Garet Bold"/>
                <a:ea typeface="Garet Bold"/>
                <a:cs typeface="Garet Bold"/>
                <a:sym typeface="Garet Bold"/>
              </a:rPr>
              <a:t>Control Flow:</a:t>
            </a:r>
          </a:p>
          <a:p>
            <a:pPr algn="l">
              <a:lnSpc>
                <a:spcPts val="3815"/>
              </a:lnSpc>
              <a:spcBef>
                <a:spcPct val="0"/>
              </a:spcBef>
            </a:pPr>
            <a:r>
              <a:rPr lang="en-US" sz="2725" spc="-215">
                <a:solidFill>
                  <a:srgbClr val="000000"/>
                </a:solidFill>
                <a:latin typeface="Garet"/>
                <a:ea typeface="Garet"/>
                <a:cs typeface="Garet"/>
                <a:sym typeface="Garet"/>
              </a:rPr>
              <a:t>         </a:t>
            </a:r>
            <a:r>
              <a:rPr lang="en-US" b="true" sz="2725" spc="-215">
                <a:solidFill>
                  <a:srgbClr val="000000"/>
                </a:solidFill>
                <a:latin typeface="Garet Bold"/>
                <a:ea typeface="Garet Bold"/>
                <a:cs typeface="Garet Bold"/>
                <a:sym typeface="Garet Bold"/>
              </a:rPr>
              <a:t>CREATE OR ALTER PROCEDURE: </a:t>
            </a:r>
            <a:r>
              <a:rPr lang="en-US" sz="2725" spc="-215">
                <a:solidFill>
                  <a:srgbClr val="000000"/>
                </a:solidFill>
                <a:latin typeface="Garet"/>
                <a:ea typeface="Garet"/>
                <a:cs typeface="Garet"/>
                <a:sym typeface="Garet"/>
              </a:rPr>
              <a:t>Membungkus seluruh logika dalam satu</a:t>
            </a:r>
          </a:p>
          <a:p>
            <a:pPr algn="l">
              <a:lnSpc>
                <a:spcPts val="3815"/>
              </a:lnSpc>
              <a:spcBef>
                <a:spcPct val="0"/>
              </a:spcBef>
            </a:pPr>
            <a:r>
              <a:rPr lang="en-US" sz="2725" spc="-215">
                <a:solidFill>
                  <a:srgbClr val="000000"/>
                </a:solidFill>
                <a:latin typeface="Garet"/>
                <a:ea typeface="Garet"/>
                <a:cs typeface="Garet"/>
                <a:sym typeface="Garet"/>
              </a:rPr>
              <a:t>         objek yang mudah dieksekusi ulang atau diperbarui.</a:t>
            </a:r>
          </a:p>
          <a:p>
            <a:pPr algn="l">
              <a:lnSpc>
                <a:spcPts val="3815"/>
              </a:lnSpc>
              <a:spcBef>
                <a:spcPct val="0"/>
              </a:spcBef>
            </a:pPr>
            <a:r>
              <a:rPr lang="en-US" sz="2725" spc="-215">
                <a:solidFill>
                  <a:srgbClr val="000000"/>
                </a:solidFill>
                <a:latin typeface="Garet"/>
                <a:ea typeface="Garet"/>
                <a:cs typeface="Garet"/>
                <a:sym typeface="Garet"/>
              </a:rPr>
              <a:t>         </a:t>
            </a:r>
            <a:r>
              <a:rPr lang="en-US" b="true" sz="2725" spc="-215">
                <a:solidFill>
                  <a:srgbClr val="000000"/>
                </a:solidFill>
                <a:latin typeface="Garet Bold"/>
                <a:ea typeface="Garet Bold"/>
                <a:cs typeface="Garet Bold"/>
                <a:sym typeface="Garet Bold"/>
              </a:rPr>
              <a:t>SET NOCOUNT ON: </a:t>
            </a:r>
            <a:r>
              <a:rPr lang="en-US" sz="2725" spc="-215">
                <a:solidFill>
                  <a:srgbClr val="000000"/>
                </a:solidFill>
                <a:latin typeface="Garet"/>
                <a:ea typeface="Garet"/>
                <a:cs typeface="Garet"/>
                <a:sym typeface="Garet"/>
              </a:rPr>
              <a:t>Mengoptimalkan kinerja jaringan dengan mencegah </a:t>
            </a:r>
          </a:p>
          <a:p>
            <a:pPr algn="l">
              <a:lnSpc>
                <a:spcPts val="3815"/>
              </a:lnSpc>
              <a:spcBef>
                <a:spcPct val="0"/>
              </a:spcBef>
            </a:pPr>
            <a:r>
              <a:rPr lang="en-US" sz="2725" spc="-215">
                <a:solidFill>
                  <a:srgbClr val="000000"/>
                </a:solidFill>
                <a:latin typeface="Garet"/>
                <a:ea typeface="Garet"/>
                <a:cs typeface="Garet"/>
                <a:sym typeface="Garet"/>
              </a:rPr>
              <a:t>         pengiriman pesan "x rows affected" yang tidak perlu.</a:t>
            </a:r>
          </a:p>
          <a:p>
            <a:pPr algn="l">
              <a:lnSpc>
                <a:spcPts val="3815"/>
              </a:lnSpc>
              <a:spcBef>
                <a:spcPct val="0"/>
              </a:spcBef>
            </a:pPr>
            <a:r>
              <a:rPr lang="en-US" sz="2725" spc="-215">
                <a:solidFill>
                  <a:srgbClr val="000000"/>
                </a:solidFill>
                <a:latin typeface="Garet"/>
                <a:ea typeface="Garet"/>
                <a:cs typeface="Garet"/>
                <a:sym typeface="Garet"/>
              </a:rPr>
              <a:t>        </a:t>
            </a:r>
            <a:r>
              <a:rPr lang="en-US" b="true" sz="2725" spc="-215">
                <a:solidFill>
                  <a:srgbClr val="000000"/>
                </a:solidFill>
                <a:latin typeface="Garet Bold"/>
                <a:ea typeface="Garet Bold"/>
                <a:cs typeface="Garet Bold"/>
                <a:sym typeface="Garet Bold"/>
              </a:rPr>
              <a:t> DECLARE ... GETDATE():</a:t>
            </a:r>
            <a:r>
              <a:rPr lang="en-US" sz="2725" spc="-215">
                <a:solidFill>
                  <a:srgbClr val="000000"/>
                </a:solidFill>
                <a:latin typeface="Garet"/>
                <a:ea typeface="Garet"/>
                <a:cs typeface="Garet"/>
                <a:sym typeface="Garet"/>
              </a:rPr>
              <a:t> Digunakan untuk logging durasi proses.</a:t>
            </a:r>
          </a:p>
          <a:p>
            <a:pPr algn="l">
              <a:lnSpc>
                <a:spcPts val="3815"/>
              </a:lnSpc>
              <a:spcBef>
                <a:spcPct val="0"/>
              </a:spcBef>
            </a:pPr>
          </a:p>
          <a:p>
            <a:pPr algn="just">
              <a:lnSpc>
                <a:spcPts val="3815"/>
              </a:lnSpc>
            </a:pPr>
            <a:r>
              <a:rPr lang="en-US" b="true" sz="2725" spc="-215">
                <a:solidFill>
                  <a:srgbClr val="000000"/>
                </a:solidFill>
                <a:latin typeface="Garet Bold"/>
                <a:ea typeface="Garet Bold"/>
                <a:cs typeface="Garet Bold"/>
                <a:sym typeface="Garet Bold"/>
              </a:rPr>
              <a:t>Data Manipulation (DML):</a:t>
            </a:r>
          </a:p>
          <a:p>
            <a:pPr algn="just">
              <a:lnSpc>
                <a:spcPts val="3815"/>
              </a:lnSpc>
            </a:pPr>
            <a:r>
              <a:rPr lang="en-US" b="true" sz="2725" spc="-215">
                <a:solidFill>
                  <a:srgbClr val="000000"/>
                </a:solidFill>
                <a:latin typeface="Garet Bold"/>
                <a:ea typeface="Garet Bold"/>
                <a:cs typeface="Garet Bold"/>
                <a:sym typeface="Garet Bold"/>
              </a:rPr>
              <a:t>TRUNCATE TABLE</a:t>
            </a:r>
            <a:r>
              <a:rPr lang="en-US" sz="2725" spc="-215">
                <a:solidFill>
                  <a:srgbClr val="000000"/>
                </a:solidFill>
                <a:latin typeface="Garet"/>
                <a:ea typeface="Garet"/>
                <a:cs typeface="Garet"/>
                <a:sym typeface="Garet"/>
              </a:rPr>
              <a:t>: Membersihkan tabel </a:t>
            </a:r>
            <a:r>
              <a:rPr lang="en-US" sz="2725" i="true" spc="-215">
                <a:solidFill>
                  <a:srgbClr val="000000"/>
                </a:solidFill>
                <a:latin typeface="Garet Italics"/>
                <a:ea typeface="Garet Italics"/>
                <a:cs typeface="Garet Italics"/>
                <a:sym typeface="Garet Italics"/>
              </a:rPr>
              <a:t>Staging</a:t>
            </a:r>
            <a:r>
              <a:rPr lang="en-US" sz="2725" spc="-215">
                <a:solidFill>
                  <a:srgbClr val="000000"/>
                </a:solidFill>
                <a:latin typeface="Garet"/>
                <a:ea typeface="Garet"/>
                <a:cs typeface="Garet"/>
                <a:sym typeface="Garet"/>
              </a:rPr>
              <a:t> dengan cepat sebelum data baru dimuat (Reset log).</a:t>
            </a:r>
          </a:p>
          <a:p>
            <a:pPr algn="just">
              <a:lnSpc>
                <a:spcPts val="3815"/>
              </a:lnSpc>
            </a:pPr>
            <a:r>
              <a:rPr lang="en-US" b="true" sz="2725" spc="-215">
                <a:solidFill>
                  <a:srgbClr val="000000"/>
                </a:solidFill>
                <a:latin typeface="Garet Bold"/>
                <a:ea typeface="Garet Bold"/>
                <a:cs typeface="Garet Bold"/>
                <a:sym typeface="Garet Bold"/>
              </a:rPr>
              <a:t>INSERT INTO ... SELECT</a:t>
            </a:r>
            <a:r>
              <a:rPr lang="en-US" sz="2725" spc="-215">
                <a:solidFill>
                  <a:srgbClr val="000000"/>
                </a:solidFill>
                <a:latin typeface="Garet"/>
                <a:ea typeface="Garet"/>
                <a:cs typeface="Garet"/>
                <a:sym typeface="Garet"/>
              </a:rPr>
              <a:t>: Memindahkan data secara massal (</a:t>
            </a:r>
            <a:r>
              <a:rPr lang="en-US" sz="2725" i="true" spc="-215">
                <a:solidFill>
                  <a:srgbClr val="000000"/>
                </a:solidFill>
                <a:latin typeface="Garet Italics"/>
                <a:ea typeface="Garet Italics"/>
                <a:cs typeface="Garet Italics"/>
                <a:sym typeface="Garet Italics"/>
              </a:rPr>
              <a:t>bulk insert</a:t>
            </a:r>
            <a:r>
              <a:rPr lang="en-US" sz="2725" spc="-215">
                <a:solidFill>
                  <a:srgbClr val="000000"/>
                </a:solidFill>
                <a:latin typeface="Garet"/>
                <a:ea typeface="Garet"/>
                <a:cs typeface="Garet"/>
                <a:sym typeface="Garet"/>
              </a:rPr>
              <a:t>).</a:t>
            </a:r>
          </a:p>
          <a:p>
            <a:pPr algn="just">
              <a:lnSpc>
                <a:spcPts val="3815"/>
              </a:lnSpc>
            </a:pPr>
            <a:r>
              <a:rPr lang="en-US" b="true" sz="2725" spc="-215">
                <a:solidFill>
                  <a:srgbClr val="000000"/>
                </a:solidFill>
                <a:latin typeface="Garet Bold"/>
                <a:ea typeface="Garet Bold"/>
                <a:cs typeface="Garet Bold"/>
                <a:sym typeface="Garet Bold"/>
              </a:rPr>
              <a:t>MERGE</a:t>
            </a:r>
            <a:r>
              <a:rPr lang="en-US" sz="2725" spc="-215">
                <a:solidFill>
                  <a:srgbClr val="000000"/>
                </a:solidFill>
                <a:latin typeface="Garet"/>
                <a:ea typeface="Garet"/>
                <a:cs typeface="Garet"/>
                <a:sym typeface="Garet"/>
              </a:rPr>
              <a:t>: Digunakan pada </a:t>
            </a:r>
            <a:r>
              <a:rPr lang="en-US" b="true" sz="2725" spc="-215">
                <a:solidFill>
                  <a:srgbClr val="000000"/>
                </a:solidFill>
                <a:latin typeface="Garet Bold"/>
                <a:ea typeface="Garet Bold"/>
                <a:cs typeface="Garet Bold"/>
                <a:sym typeface="Garet Bold"/>
              </a:rPr>
              <a:t>Dim_Employee</a:t>
            </a:r>
            <a:r>
              <a:rPr lang="en-US" sz="2725" spc="-215">
                <a:solidFill>
                  <a:srgbClr val="000000"/>
                </a:solidFill>
                <a:latin typeface="Garet"/>
                <a:ea typeface="Garet"/>
                <a:cs typeface="Garet"/>
                <a:sym typeface="Garet"/>
              </a:rPr>
              <a:t> untuk menangani logika </a:t>
            </a:r>
            <a:r>
              <a:rPr lang="en-US" sz="2725" i="true" spc="-215">
                <a:solidFill>
                  <a:srgbClr val="000000"/>
                </a:solidFill>
                <a:latin typeface="Garet Italics"/>
                <a:ea typeface="Garet Italics"/>
                <a:cs typeface="Garet Italics"/>
                <a:sym typeface="Garet Italics"/>
              </a:rPr>
              <a:t>Upsert</a:t>
            </a:r>
            <a:r>
              <a:rPr lang="en-US" sz="2725" spc="-215">
                <a:solidFill>
                  <a:srgbClr val="000000"/>
                </a:solidFill>
                <a:latin typeface="Garet"/>
                <a:ea typeface="Garet"/>
                <a:cs typeface="Garet"/>
                <a:sym typeface="Garet"/>
              </a:rPr>
              <a:t> (Update jika ada, Insert jika baru).</a:t>
            </a:r>
          </a:p>
          <a:p>
            <a:pPr algn="just">
              <a:lnSpc>
                <a:spcPts val="3815"/>
              </a:lnSpc>
            </a:pPr>
            <a:r>
              <a:rPr lang="en-US" b="true" sz="2725" spc="-215">
                <a:solidFill>
                  <a:srgbClr val="000000"/>
                </a:solidFill>
                <a:latin typeface="Garet Bold"/>
                <a:ea typeface="Garet Bold"/>
                <a:cs typeface="Garet Bold"/>
                <a:sym typeface="Garet Bold"/>
              </a:rPr>
              <a:t>DELETE</a:t>
            </a:r>
            <a:r>
              <a:rPr lang="en-US" sz="2725" spc="-215">
                <a:solidFill>
                  <a:srgbClr val="000000"/>
                </a:solidFill>
                <a:latin typeface="Garet"/>
                <a:ea typeface="Garet"/>
                <a:cs typeface="Garet"/>
                <a:sym typeface="Garet"/>
              </a:rPr>
              <a:t>: Menghapus data spesifik pada Fact Table sebelum insert ulang untuk mencegah duplikasi.</a:t>
            </a:r>
          </a:p>
          <a:p>
            <a:pPr algn="l">
              <a:lnSpc>
                <a:spcPts val="3815"/>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Komponen &amp; Script yang Digunakan</a:t>
            </a:r>
          </a:p>
        </p:txBody>
      </p:sp>
      <p:sp>
        <p:nvSpPr>
          <p:cNvPr name="TextBox 8" id="8"/>
          <p:cNvSpPr txBox="true"/>
          <p:nvPr/>
        </p:nvSpPr>
        <p:spPr>
          <a:xfrm rot="0">
            <a:off x="490364" y="2060577"/>
            <a:ext cx="11698036" cy="5693394"/>
          </a:xfrm>
          <a:prstGeom prst="rect">
            <a:avLst/>
          </a:prstGeom>
        </p:spPr>
        <p:txBody>
          <a:bodyPr anchor="t" rtlCol="false" tIns="0" lIns="0" bIns="0" rIns="0">
            <a:spAutoFit/>
          </a:bodyPr>
          <a:lstStyle/>
          <a:p>
            <a:pPr algn="l">
              <a:lnSpc>
                <a:spcPts val="3815"/>
              </a:lnSpc>
              <a:spcBef>
                <a:spcPct val="0"/>
              </a:spcBef>
            </a:pPr>
            <a:r>
              <a:rPr lang="en-US" sz="2725" spc="-215">
                <a:solidFill>
                  <a:srgbClr val="000000"/>
                </a:solidFill>
                <a:latin typeface="Garet"/>
                <a:ea typeface="Garet"/>
                <a:cs typeface="Garet"/>
                <a:sym typeface="Garet"/>
              </a:rPr>
              <a:t>Berikut adalah rincian perintah dan logika kunci yang digunakan dalam script:</a:t>
            </a:r>
          </a:p>
          <a:p>
            <a:pPr algn="l">
              <a:lnSpc>
                <a:spcPts val="3815"/>
              </a:lnSpc>
              <a:spcBef>
                <a:spcPct val="0"/>
              </a:spcBef>
            </a:pPr>
          </a:p>
          <a:p>
            <a:pPr algn="l">
              <a:lnSpc>
                <a:spcPts val="3815"/>
              </a:lnSpc>
              <a:spcBef>
                <a:spcPct val="0"/>
              </a:spcBef>
            </a:pPr>
            <a:r>
              <a:rPr lang="en-US" b="true" sz="2725" spc="-215">
                <a:solidFill>
                  <a:srgbClr val="000000"/>
                </a:solidFill>
                <a:latin typeface="Garet Bold"/>
                <a:ea typeface="Garet Bold"/>
                <a:cs typeface="Garet Bold"/>
                <a:sym typeface="Garet Bold"/>
              </a:rPr>
              <a:t>Transformasi &amp; Fungsi:</a:t>
            </a:r>
          </a:p>
          <a:p>
            <a:pPr algn="l">
              <a:lnSpc>
                <a:spcPts val="3815"/>
              </a:lnSpc>
            </a:pPr>
            <a:r>
              <a:rPr lang="en-US" b="true" sz="2725" spc="-215">
                <a:solidFill>
                  <a:srgbClr val="000000"/>
                </a:solidFill>
                <a:latin typeface="Garet Bold"/>
                <a:ea typeface="Garet Bold"/>
                <a:cs typeface="Garet Bold"/>
                <a:sym typeface="Garet Bold"/>
              </a:rPr>
              <a:t>DATEDIFF: </a:t>
            </a:r>
            <a:r>
              <a:rPr lang="en-US" sz="2725" spc="-215">
                <a:solidFill>
                  <a:srgbClr val="000000"/>
                </a:solidFill>
                <a:latin typeface="Garet"/>
                <a:ea typeface="Garet"/>
                <a:cs typeface="Garet"/>
                <a:sym typeface="Garet"/>
              </a:rPr>
              <a:t>Menghitung durasi kerja dan keterlambatan (dalam menit).</a:t>
            </a:r>
          </a:p>
          <a:p>
            <a:pPr algn="l">
              <a:lnSpc>
                <a:spcPts val="3815"/>
              </a:lnSpc>
            </a:pPr>
            <a:r>
              <a:rPr lang="en-US" b="true" sz="2725" spc="-215">
                <a:solidFill>
                  <a:srgbClr val="000000"/>
                </a:solidFill>
                <a:latin typeface="Garet Bold"/>
                <a:ea typeface="Garet Bold"/>
                <a:cs typeface="Garet Bold"/>
                <a:sym typeface="Garet Bold"/>
              </a:rPr>
              <a:t>CAST/CONVERT: </a:t>
            </a:r>
            <a:r>
              <a:rPr lang="en-US" sz="2725" spc="-215">
                <a:solidFill>
                  <a:srgbClr val="000000"/>
                </a:solidFill>
                <a:latin typeface="Garet"/>
                <a:ea typeface="Garet"/>
                <a:cs typeface="Garet"/>
                <a:sym typeface="Garet"/>
              </a:rPr>
              <a:t>Mengubah format tanggal menjadi DateKey (format integer YYYYMMDD).</a:t>
            </a:r>
          </a:p>
          <a:p>
            <a:pPr algn="l">
              <a:lnSpc>
                <a:spcPts val="3815"/>
              </a:lnSpc>
            </a:pPr>
            <a:r>
              <a:rPr lang="en-US" b="true" sz="2725" spc="-215">
                <a:solidFill>
                  <a:srgbClr val="000000"/>
                </a:solidFill>
                <a:latin typeface="Garet Bold"/>
                <a:ea typeface="Garet Bold"/>
                <a:cs typeface="Garet Bold"/>
                <a:sym typeface="Garet Bold"/>
              </a:rPr>
              <a:t>ISNULL: </a:t>
            </a:r>
            <a:r>
              <a:rPr lang="en-US" sz="2725" spc="-215">
                <a:solidFill>
                  <a:srgbClr val="000000"/>
                </a:solidFill>
                <a:latin typeface="Garet"/>
                <a:ea typeface="Garet"/>
                <a:cs typeface="Garet"/>
                <a:sym typeface="Garet"/>
              </a:rPr>
              <a:t>Menangani </a:t>
            </a:r>
            <a:r>
              <a:rPr lang="en-US" sz="2725" spc="-215">
                <a:solidFill>
                  <a:srgbClr val="000000"/>
                </a:solidFill>
                <a:latin typeface="Garet"/>
                <a:ea typeface="Garet"/>
                <a:cs typeface="Garet"/>
                <a:sym typeface="Garet"/>
              </a:rPr>
              <a:t>nilai NULL dengan memberikan nil</a:t>
            </a:r>
            <a:r>
              <a:rPr lang="en-US" sz="2725" spc="-215">
                <a:solidFill>
                  <a:srgbClr val="000000"/>
                </a:solidFill>
                <a:latin typeface="Garet"/>
                <a:ea typeface="Garet"/>
                <a:cs typeface="Garet"/>
                <a:sym typeface="Garet"/>
              </a:rPr>
              <a:t>ai</a:t>
            </a:r>
            <a:r>
              <a:rPr lang="en-US" sz="2725" spc="-215">
                <a:solidFill>
                  <a:srgbClr val="000000"/>
                </a:solidFill>
                <a:latin typeface="Garet"/>
                <a:ea typeface="Garet"/>
                <a:cs typeface="Garet"/>
                <a:sym typeface="Garet"/>
              </a:rPr>
              <a:t> default (biasanya -1 untuk Unknown Mem</a:t>
            </a:r>
            <a:r>
              <a:rPr lang="en-US" sz="2725" spc="-215">
                <a:solidFill>
                  <a:srgbClr val="000000"/>
                </a:solidFill>
                <a:latin typeface="Garet"/>
                <a:ea typeface="Garet"/>
                <a:cs typeface="Garet"/>
                <a:sym typeface="Garet"/>
              </a:rPr>
              <a:t>ber</a:t>
            </a:r>
            <a:r>
              <a:rPr lang="en-US" sz="2725" spc="-215">
                <a:solidFill>
                  <a:srgbClr val="000000"/>
                </a:solidFill>
                <a:latin typeface="Garet"/>
                <a:ea typeface="Garet"/>
                <a:cs typeface="Garet"/>
                <a:sym typeface="Garet"/>
              </a:rPr>
              <a:t>).</a:t>
            </a:r>
          </a:p>
          <a:p>
            <a:pPr algn="l">
              <a:lnSpc>
                <a:spcPts val="3815"/>
              </a:lnSpc>
            </a:pPr>
            <a:r>
              <a:rPr lang="en-US" b="true" sz="2725" spc="-215">
                <a:solidFill>
                  <a:srgbClr val="000000"/>
                </a:solidFill>
                <a:latin typeface="Garet Bold"/>
                <a:ea typeface="Garet Bold"/>
                <a:cs typeface="Garet Bold"/>
                <a:sym typeface="Garet Bold"/>
              </a:rPr>
              <a:t>CAS</a:t>
            </a:r>
            <a:r>
              <a:rPr lang="en-US" b="true" sz="2725" spc="-215">
                <a:solidFill>
                  <a:srgbClr val="000000"/>
                </a:solidFill>
                <a:latin typeface="Garet Bold"/>
                <a:ea typeface="Garet Bold"/>
                <a:cs typeface="Garet Bold"/>
                <a:sym typeface="Garet Bold"/>
              </a:rPr>
              <a:t>E WHEN: </a:t>
            </a:r>
            <a:r>
              <a:rPr lang="en-US" sz="2725" spc="-215">
                <a:solidFill>
                  <a:srgbClr val="000000"/>
                </a:solidFill>
                <a:latin typeface="Garet"/>
                <a:ea typeface="Garet"/>
                <a:cs typeface="Garet"/>
                <a:sym typeface="Garet"/>
              </a:rPr>
              <a:t>Logika bisnis untuk menentukan a</a:t>
            </a:r>
            <a:r>
              <a:rPr lang="en-US" sz="2725" spc="-215">
                <a:solidFill>
                  <a:srgbClr val="000000"/>
                </a:solidFill>
                <a:latin typeface="Garet"/>
                <a:ea typeface="Garet"/>
                <a:cs typeface="Garet"/>
                <a:sym typeface="Garet"/>
              </a:rPr>
              <a:t>p</a:t>
            </a:r>
            <a:r>
              <a:rPr lang="en-US" sz="2725" spc="-215">
                <a:solidFill>
                  <a:srgbClr val="000000"/>
                </a:solidFill>
                <a:latin typeface="Garet"/>
                <a:ea typeface="Garet"/>
                <a:cs typeface="Garet"/>
                <a:sym typeface="Garet"/>
              </a:rPr>
              <a:t>akah pegawai terlambat (setelah 07:30).</a:t>
            </a:r>
          </a:p>
          <a:p>
            <a:pPr algn="just">
              <a:lnSpc>
                <a:spcPts val="3815"/>
              </a:lnSpc>
            </a:pPr>
          </a:p>
          <a:p>
            <a:pPr algn="l">
              <a:lnSpc>
                <a:spcPts val="3815"/>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Arsitektur Data</a:t>
            </a:r>
          </a:p>
        </p:txBody>
      </p:sp>
      <p:sp>
        <p:nvSpPr>
          <p:cNvPr name="TextBox 8" id="8"/>
          <p:cNvSpPr txBox="true"/>
          <p:nvPr/>
        </p:nvSpPr>
        <p:spPr>
          <a:xfrm rot="0">
            <a:off x="490364" y="2150110"/>
            <a:ext cx="12665906" cy="4939030"/>
          </a:xfrm>
          <a:prstGeom prst="rect">
            <a:avLst/>
          </a:prstGeom>
        </p:spPr>
        <p:txBody>
          <a:bodyPr anchor="t" rtlCol="false" tIns="0" lIns="0" bIns="0" rIns="0">
            <a:spAutoFit/>
          </a:bodyPr>
          <a:lstStyle/>
          <a:p>
            <a:pPr algn="l">
              <a:lnSpc>
                <a:spcPts val="3919"/>
              </a:lnSpc>
            </a:pPr>
            <a:r>
              <a:rPr lang="en-US" sz="2799" spc="-221">
                <a:solidFill>
                  <a:srgbClr val="000000"/>
                </a:solidFill>
                <a:latin typeface="Garet"/>
                <a:ea typeface="Garet"/>
                <a:cs typeface="Garet"/>
                <a:sym typeface="Garet"/>
              </a:rPr>
              <a:t>A</a:t>
            </a:r>
            <a:r>
              <a:rPr lang="en-US" sz="2799" spc="-221">
                <a:solidFill>
                  <a:srgbClr val="000000"/>
                </a:solidFill>
                <a:latin typeface="Garet"/>
                <a:ea typeface="Garet"/>
                <a:cs typeface="Garet"/>
                <a:sym typeface="Garet"/>
              </a:rPr>
              <a:t>rsitektur yang diterapkan dalam script ini adalah pola ETL (Extract, Transform, Load) berbasis Database. Proses t</a:t>
            </a:r>
            <a:r>
              <a:rPr lang="en-US" sz="2799" spc="-221">
                <a:solidFill>
                  <a:srgbClr val="000000"/>
                </a:solidFill>
                <a:latin typeface="Garet"/>
                <a:ea typeface="Garet"/>
                <a:cs typeface="Garet"/>
                <a:sym typeface="Garet"/>
              </a:rPr>
              <a:t>ransformasi </a:t>
            </a:r>
            <a:r>
              <a:rPr lang="en-US" sz="2799" spc="-221">
                <a:solidFill>
                  <a:srgbClr val="000000"/>
                </a:solidFill>
                <a:latin typeface="Garet"/>
                <a:ea typeface="Garet"/>
                <a:cs typeface="Garet"/>
                <a:sym typeface="Garet"/>
              </a:rPr>
              <a:t>berat</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dilak</a:t>
            </a:r>
            <a:r>
              <a:rPr lang="en-US" sz="2799" spc="-221">
                <a:solidFill>
                  <a:srgbClr val="000000"/>
                </a:solidFill>
                <a:latin typeface="Garet"/>
                <a:ea typeface="Garet"/>
                <a:cs typeface="Garet"/>
                <a:sym typeface="Garet"/>
              </a:rPr>
              <a:t>u</a:t>
            </a:r>
            <a:r>
              <a:rPr lang="en-US" sz="2799" spc="-221">
                <a:solidFill>
                  <a:srgbClr val="000000"/>
                </a:solidFill>
                <a:latin typeface="Garet"/>
                <a:ea typeface="Garet"/>
                <a:cs typeface="Garet"/>
                <a:sym typeface="Garet"/>
              </a:rPr>
              <a:t>ka</a:t>
            </a:r>
            <a:r>
              <a:rPr lang="en-US" sz="2799" spc="-221">
                <a:solidFill>
                  <a:srgbClr val="000000"/>
                </a:solidFill>
                <a:latin typeface="Garet"/>
                <a:ea typeface="Garet"/>
                <a:cs typeface="Garet"/>
                <a:sym typeface="Garet"/>
              </a:rPr>
              <a:t>n</a:t>
            </a:r>
            <a:r>
              <a:rPr lang="en-US" sz="2799" spc="-221">
                <a:solidFill>
                  <a:srgbClr val="000000"/>
                </a:solidFill>
                <a:latin typeface="Garet"/>
                <a:ea typeface="Garet"/>
                <a:cs typeface="Garet"/>
                <a:sym typeface="Garet"/>
              </a:rPr>
              <a:t> d</a:t>
            </a:r>
            <a:r>
              <a:rPr lang="en-US" sz="2799" spc="-221">
                <a:solidFill>
                  <a:srgbClr val="000000"/>
                </a:solidFill>
                <a:latin typeface="Garet"/>
                <a:ea typeface="Garet"/>
                <a:cs typeface="Garet"/>
                <a:sym typeface="Garet"/>
              </a:rPr>
              <a:t>i</a:t>
            </a:r>
            <a:r>
              <a:rPr lang="en-US" sz="2799" spc="-221">
                <a:solidFill>
                  <a:srgbClr val="000000"/>
                </a:solidFill>
                <a:latin typeface="Garet"/>
                <a:ea typeface="Garet"/>
                <a:cs typeface="Garet"/>
                <a:sym typeface="Garet"/>
              </a:rPr>
              <a:t> dalam </a:t>
            </a:r>
            <a:r>
              <a:rPr lang="en-US" sz="2799" spc="-221">
                <a:solidFill>
                  <a:srgbClr val="000000"/>
                </a:solidFill>
                <a:latin typeface="Garet"/>
                <a:ea typeface="Garet"/>
                <a:cs typeface="Garet"/>
                <a:sym typeface="Garet"/>
              </a:rPr>
              <a:t>D</a:t>
            </a:r>
            <a:r>
              <a:rPr lang="en-US" sz="2799" spc="-221">
                <a:solidFill>
                  <a:srgbClr val="000000"/>
                </a:solidFill>
                <a:latin typeface="Garet"/>
                <a:ea typeface="Garet"/>
                <a:cs typeface="Garet"/>
                <a:sym typeface="Garet"/>
              </a:rPr>
              <a:t>ata</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Warehouse itu sendiri, bukan di server aplikasi terpisah.</a:t>
            </a:r>
          </a:p>
          <a:p>
            <a:pPr algn="l">
              <a:lnSpc>
                <a:spcPts val="3919"/>
              </a:lnSpc>
            </a:pPr>
          </a:p>
          <a:p>
            <a:pPr algn="l">
              <a:lnSpc>
                <a:spcPts val="3919"/>
              </a:lnSpc>
            </a:pPr>
            <a:r>
              <a:rPr lang="en-US" sz="2799" spc="-221">
                <a:solidFill>
                  <a:srgbClr val="000000"/>
                </a:solidFill>
                <a:latin typeface="Garet"/>
                <a:ea typeface="Garet"/>
                <a:cs typeface="Garet"/>
                <a:sym typeface="Garet"/>
              </a:rPr>
              <a:t>Alur Data (Data Flow):</a:t>
            </a:r>
          </a:p>
          <a:p>
            <a:pPr algn="l" marL="604519" indent="-302260" lvl="1">
              <a:lnSpc>
                <a:spcPts val="3919"/>
              </a:lnSpc>
              <a:buFont typeface="Arial"/>
              <a:buChar char="•"/>
            </a:pPr>
            <a:r>
              <a:rPr lang="en-US" sz="2799" spc="-221">
                <a:solidFill>
                  <a:srgbClr val="000000"/>
                </a:solidFill>
                <a:latin typeface="Garet"/>
                <a:ea typeface="Garet"/>
                <a:cs typeface="Garet"/>
                <a:sym typeface="Garet"/>
              </a:rPr>
              <a:t>S</a:t>
            </a:r>
            <a:r>
              <a:rPr lang="en-US" sz="2799" spc="-221">
                <a:solidFill>
                  <a:srgbClr val="000000"/>
                </a:solidFill>
                <a:latin typeface="Garet"/>
                <a:ea typeface="Garet"/>
                <a:cs typeface="Garet"/>
                <a:sym typeface="Garet"/>
              </a:rPr>
              <a:t>ource (</a:t>
            </a:r>
            <a:r>
              <a:rPr lang="en-US" sz="2799" spc="-221">
                <a:solidFill>
                  <a:srgbClr val="000000"/>
                </a:solidFill>
                <a:latin typeface="Garet"/>
                <a:ea typeface="Garet"/>
                <a:cs typeface="Garet"/>
                <a:sym typeface="Garet"/>
              </a:rPr>
              <a:t>O</a:t>
            </a:r>
            <a:r>
              <a:rPr lang="en-US" sz="2799" spc="-221">
                <a:solidFill>
                  <a:srgbClr val="000000"/>
                </a:solidFill>
                <a:latin typeface="Garet"/>
                <a:ea typeface="Garet"/>
                <a:cs typeface="Garet"/>
                <a:sym typeface="Garet"/>
              </a:rPr>
              <a:t>L</a:t>
            </a:r>
            <a:r>
              <a:rPr lang="en-US" sz="2799" spc="-221">
                <a:solidFill>
                  <a:srgbClr val="000000"/>
                </a:solidFill>
                <a:latin typeface="Garet"/>
                <a:ea typeface="Garet"/>
                <a:cs typeface="Garet"/>
                <a:sym typeface="Garet"/>
              </a:rPr>
              <a:t>T</a:t>
            </a:r>
            <a:r>
              <a:rPr lang="en-US" sz="2799" spc="-221">
                <a:solidFill>
                  <a:srgbClr val="000000"/>
                </a:solidFill>
                <a:latin typeface="Garet"/>
                <a:ea typeface="Garet"/>
                <a:cs typeface="Garet"/>
                <a:sym typeface="Garet"/>
              </a:rPr>
              <a:t>P)</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Data transaksional mentah (tabel Ms... dan Tr...).</a:t>
            </a:r>
          </a:p>
          <a:p>
            <a:pPr algn="l" marL="604519" indent="-302260" lvl="1">
              <a:lnSpc>
                <a:spcPts val="3919"/>
              </a:lnSpc>
              <a:buFont typeface="Arial"/>
              <a:buChar char="•"/>
            </a:pPr>
            <a:r>
              <a:rPr lang="en-US" sz="2799" spc="-221">
                <a:solidFill>
                  <a:srgbClr val="000000"/>
                </a:solidFill>
                <a:latin typeface="Garet"/>
                <a:ea typeface="Garet"/>
                <a:cs typeface="Garet"/>
                <a:sym typeface="Garet"/>
              </a:rPr>
              <a:t>Staging Area: Tempat pendaratan sementara (Staging.MsPegawai, dll).</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Data di si</a:t>
            </a:r>
            <a:r>
              <a:rPr lang="en-US" sz="2799" spc="-221">
                <a:solidFill>
                  <a:srgbClr val="000000"/>
                </a:solidFill>
                <a:latin typeface="Garet"/>
                <a:ea typeface="Garet"/>
                <a:cs typeface="Garet"/>
                <a:sym typeface="Garet"/>
              </a:rPr>
              <a:t>ni adalah salinan persis dari Source tet</a:t>
            </a:r>
            <a:r>
              <a:rPr lang="en-US" sz="2799" spc="-221">
                <a:solidFill>
                  <a:srgbClr val="000000"/>
                </a:solidFill>
                <a:latin typeface="Garet"/>
                <a:ea typeface="Garet"/>
                <a:cs typeface="Garet"/>
                <a:sym typeface="Garet"/>
              </a:rPr>
              <a:t>api</a:t>
            </a:r>
            <a:r>
              <a:rPr lang="en-US" sz="2799" spc="-221">
                <a:solidFill>
                  <a:srgbClr val="000000"/>
                </a:solidFill>
                <a:latin typeface="Garet"/>
                <a:ea typeface="Garet"/>
                <a:cs typeface="Garet"/>
                <a:sym typeface="Garet"/>
              </a:rPr>
              <a:t> di-truncate setiap kali proses berjalan.</a:t>
            </a:r>
          </a:p>
          <a:p>
            <a:pPr algn="l" marL="604519" indent="-302260" lvl="1">
              <a:lnSpc>
                <a:spcPts val="3919"/>
              </a:lnSpc>
              <a:buFont typeface="Arial"/>
              <a:buChar char="•"/>
            </a:pPr>
            <a:r>
              <a:rPr lang="en-US" sz="2799" spc="-221">
                <a:solidFill>
                  <a:srgbClr val="000000"/>
                </a:solidFill>
                <a:latin typeface="Garet"/>
                <a:ea typeface="Garet"/>
                <a:cs typeface="Garet"/>
                <a:sym typeface="Garet"/>
              </a:rPr>
              <a:t>Data Warehouse (OLAP): Tujuan akhir dengan skema Galaxy Schema.</a:t>
            </a:r>
          </a:p>
        </p:txBody>
      </p:sp>
      <p:sp>
        <p:nvSpPr>
          <p:cNvPr name="TextBox 9" id="9"/>
          <p:cNvSpPr txBox="true"/>
          <p:nvPr/>
        </p:nvSpPr>
        <p:spPr>
          <a:xfrm rot="0">
            <a:off x="1492002" y="7027825"/>
            <a:ext cx="13156270" cy="14719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Dimensions: Tabel referensi (Dim_Unit, Dim_Employee).</a:t>
            </a:r>
          </a:p>
          <a:p>
            <a:pPr algn="l">
              <a:lnSpc>
                <a:spcPts val="3919"/>
              </a:lnSpc>
              <a:spcBef>
                <a:spcPct val="0"/>
              </a:spcBef>
            </a:pPr>
            <a:r>
              <a:rPr lang="en-US" sz="2799" spc="-221">
                <a:solidFill>
                  <a:srgbClr val="000000"/>
                </a:solidFill>
                <a:latin typeface="Garet"/>
                <a:ea typeface="Garet"/>
                <a:cs typeface="Garet"/>
                <a:sym typeface="Garet"/>
              </a:rPr>
              <a:t>Facts: Tabel transaksi bisnis yang berisi metrik (Fact_Attendance, </a:t>
            </a:r>
          </a:p>
          <a:p>
            <a:pPr algn="l">
              <a:lnSpc>
                <a:spcPts val="3919"/>
              </a:lnSpc>
              <a:spcBef>
                <a:spcPct val="0"/>
              </a:spcBef>
            </a:pPr>
            <a:r>
              <a:rPr lang="en-US" sz="2799" spc="-221">
                <a:solidFill>
                  <a:srgbClr val="000000"/>
                </a:solidFill>
                <a:latin typeface="Garet"/>
                <a:ea typeface="Garet"/>
                <a:cs typeface="Garet"/>
                <a:sym typeface="Garet"/>
              </a:rPr>
              <a:t>Fact_Performance, Fact_Employee_Snapshot).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Tools &amp; Lingkungan</a:t>
            </a:r>
          </a:p>
        </p:txBody>
      </p:sp>
      <p:sp>
        <p:nvSpPr>
          <p:cNvPr name="TextBox 8" id="8"/>
          <p:cNvSpPr txBox="true"/>
          <p:nvPr/>
        </p:nvSpPr>
        <p:spPr>
          <a:xfrm rot="0">
            <a:off x="490364" y="2150110"/>
            <a:ext cx="12665906" cy="3453130"/>
          </a:xfrm>
          <a:prstGeom prst="rect">
            <a:avLst/>
          </a:prstGeom>
        </p:spPr>
        <p:txBody>
          <a:bodyPr anchor="t" rtlCol="false" tIns="0" lIns="0" bIns="0" rIns="0">
            <a:spAutoFit/>
          </a:bodyPr>
          <a:lstStyle/>
          <a:p>
            <a:pPr algn="l" marL="604519" indent="-302260" lvl="1">
              <a:lnSpc>
                <a:spcPts val="3919"/>
              </a:lnSpc>
              <a:buFont typeface="Arial"/>
              <a:buChar char="•"/>
            </a:pPr>
            <a:r>
              <a:rPr lang="en-US" sz="2799" spc="-221">
                <a:solidFill>
                  <a:srgbClr val="000000"/>
                </a:solidFill>
                <a:latin typeface="Garet"/>
                <a:ea typeface="Garet"/>
                <a:cs typeface="Garet"/>
                <a:sym typeface="Garet"/>
              </a:rPr>
              <a:t>Da</a:t>
            </a:r>
            <a:r>
              <a:rPr lang="en-US" sz="2799" spc="-221">
                <a:solidFill>
                  <a:srgbClr val="000000"/>
                </a:solidFill>
                <a:latin typeface="Garet"/>
                <a:ea typeface="Garet"/>
                <a:cs typeface="Garet"/>
                <a:sym typeface="Garet"/>
              </a:rPr>
              <a:t>tabase Engine: Microsoft SQL Server.</a:t>
            </a:r>
          </a:p>
          <a:p>
            <a:pPr algn="l" marL="604519" indent="-302260" lvl="1">
              <a:lnSpc>
                <a:spcPts val="3919"/>
              </a:lnSpc>
              <a:buFont typeface="Arial"/>
              <a:buChar char="•"/>
            </a:pPr>
            <a:r>
              <a:rPr lang="en-US" sz="2799" spc="-221">
                <a:solidFill>
                  <a:srgbClr val="000000"/>
                </a:solidFill>
                <a:latin typeface="Garet"/>
                <a:ea typeface="Garet"/>
                <a:cs typeface="Garet"/>
                <a:sym typeface="Garet"/>
              </a:rPr>
              <a:t>Orchestrator: SQL Stored Procedure (ETL_Master_Load). Prosedur i</a:t>
            </a:r>
            <a:r>
              <a:rPr lang="en-US" sz="2799" spc="-221">
                <a:solidFill>
                  <a:srgbClr val="000000"/>
                </a:solidFill>
                <a:latin typeface="Garet"/>
                <a:ea typeface="Garet"/>
                <a:cs typeface="Garet"/>
                <a:sym typeface="Garet"/>
              </a:rPr>
              <a:t>ni </a:t>
            </a:r>
            <a:r>
              <a:rPr lang="en-US" sz="2799" spc="-221">
                <a:solidFill>
                  <a:srgbClr val="000000"/>
                </a:solidFill>
                <a:latin typeface="Garet"/>
                <a:ea typeface="Garet"/>
                <a:cs typeface="Garet"/>
                <a:sym typeface="Garet"/>
              </a:rPr>
              <a:t>bertindak sebagai container tunggal yang menjalankan proses</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secara berurutan (sekuensial).</a:t>
            </a:r>
          </a:p>
          <a:p>
            <a:pPr algn="l" marL="604519" indent="-302260" lvl="1">
              <a:lnSpc>
                <a:spcPts val="3919"/>
              </a:lnSpc>
              <a:buFont typeface="Arial"/>
              <a:buChar char="•"/>
            </a:pPr>
            <a:r>
              <a:rPr lang="en-US" sz="2799" spc="-221">
                <a:solidFill>
                  <a:srgbClr val="000000"/>
                </a:solidFill>
                <a:latin typeface="Garet"/>
                <a:ea typeface="Garet"/>
                <a:cs typeface="Garet"/>
                <a:sym typeface="Garet"/>
              </a:rPr>
              <a:t>Scheduling (Implied): Biasanya prosedur ini</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akan dipa</a:t>
            </a:r>
            <a:r>
              <a:rPr lang="en-US" sz="2799" spc="-221">
                <a:solidFill>
                  <a:srgbClr val="000000"/>
                </a:solidFill>
                <a:latin typeface="Garet"/>
                <a:ea typeface="Garet"/>
                <a:cs typeface="Garet"/>
                <a:sym typeface="Garet"/>
              </a:rPr>
              <a:t>nggil oleh SQL Server Agent at</a:t>
            </a:r>
            <a:r>
              <a:rPr lang="en-US" sz="2799" spc="-221">
                <a:solidFill>
                  <a:srgbClr val="000000"/>
                </a:solidFill>
                <a:latin typeface="Garet"/>
                <a:ea typeface="Garet"/>
                <a:cs typeface="Garet"/>
                <a:sym typeface="Garet"/>
              </a:rPr>
              <a:t>au</a:t>
            </a:r>
            <a:r>
              <a:rPr lang="en-US" sz="2799" spc="-221">
                <a:solidFill>
                  <a:srgbClr val="000000"/>
                </a:solidFill>
                <a:latin typeface="Garet"/>
                <a:ea typeface="Garet"/>
                <a:cs typeface="Garet"/>
                <a:sym typeface="Garet"/>
              </a:rPr>
              <a:t> external scheduler (seperti SSIS atau Airflow) secara harian (Daily Batch).</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Strategi ETL</a:t>
            </a:r>
          </a:p>
        </p:txBody>
      </p:sp>
      <p:sp>
        <p:nvSpPr>
          <p:cNvPr name="TextBox 8" id="8"/>
          <p:cNvSpPr txBox="true"/>
          <p:nvPr/>
        </p:nvSpPr>
        <p:spPr>
          <a:xfrm rot="0">
            <a:off x="490364" y="1908177"/>
            <a:ext cx="12127570" cy="8041750"/>
          </a:xfrm>
          <a:prstGeom prst="rect">
            <a:avLst/>
          </a:prstGeom>
        </p:spPr>
        <p:txBody>
          <a:bodyPr anchor="t" rtlCol="false" tIns="0" lIns="0" bIns="0" rIns="0">
            <a:spAutoFit/>
          </a:bodyPr>
          <a:lstStyle/>
          <a:p>
            <a:pPr algn="l">
              <a:lnSpc>
                <a:spcPts val="3753"/>
              </a:lnSpc>
            </a:pPr>
            <a:r>
              <a:rPr lang="en-US" sz="2680" spc="-211">
                <a:solidFill>
                  <a:srgbClr val="000000"/>
                </a:solidFill>
                <a:latin typeface="Garet"/>
                <a:ea typeface="Garet"/>
                <a:cs typeface="Garet"/>
                <a:sym typeface="Garet"/>
              </a:rPr>
              <a:t>Stra</a:t>
            </a:r>
            <a:r>
              <a:rPr lang="en-US" sz="2680" spc="-211">
                <a:solidFill>
                  <a:srgbClr val="000000"/>
                </a:solidFill>
                <a:latin typeface="Garet"/>
                <a:ea typeface="Garet"/>
                <a:cs typeface="Garet"/>
                <a:sym typeface="Garet"/>
              </a:rPr>
              <a:t>tegi ini dirancang untuk menangani data historis, perubahan data master, dan kinerja.</a:t>
            </a:r>
          </a:p>
          <a:p>
            <a:pPr algn="l">
              <a:lnSpc>
                <a:spcPts val="3753"/>
              </a:lnSpc>
            </a:pPr>
            <a:r>
              <a:rPr lang="en-US" sz="2680" spc="-211">
                <a:solidFill>
                  <a:srgbClr val="000000"/>
                </a:solidFill>
                <a:latin typeface="Garet"/>
                <a:ea typeface="Garet"/>
                <a:cs typeface="Garet"/>
                <a:sym typeface="Garet"/>
              </a:rPr>
              <a:t>A. Strategi Staging: Full Load (Truncate &amp; Load)</a:t>
            </a:r>
          </a:p>
          <a:p>
            <a:pPr algn="l" marL="578826" indent="-289413" lvl="1">
              <a:lnSpc>
                <a:spcPts val="3753"/>
              </a:lnSpc>
              <a:buFont typeface="Arial"/>
              <a:buChar char="•"/>
            </a:pPr>
            <a:r>
              <a:rPr lang="en-US" sz="2680" spc="-211">
                <a:solidFill>
                  <a:srgbClr val="000000"/>
                </a:solidFill>
                <a:latin typeface="Garet"/>
                <a:ea typeface="Garet"/>
                <a:cs typeface="Garet"/>
                <a:sym typeface="Garet"/>
              </a:rPr>
              <a:t>Metode: Setiap kal</a:t>
            </a:r>
            <a:r>
              <a:rPr lang="en-US" sz="2680" spc="-211">
                <a:solidFill>
                  <a:srgbClr val="000000"/>
                </a:solidFill>
                <a:latin typeface="Garet"/>
                <a:ea typeface="Garet"/>
                <a:cs typeface="Garet"/>
                <a:sym typeface="Garet"/>
              </a:rPr>
              <a:t>i ETL </a:t>
            </a:r>
            <a:r>
              <a:rPr lang="en-US" sz="2680" spc="-211">
                <a:solidFill>
                  <a:srgbClr val="000000"/>
                </a:solidFill>
                <a:latin typeface="Garet"/>
                <a:ea typeface="Garet"/>
                <a:cs typeface="Garet"/>
                <a:sym typeface="Garet"/>
              </a:rPr>
              <a:t>berjalan, tabel staging dikosongkan (TRUNCATE) lalu diisi ulang sepenuhnya dari sumber.</a:t>
            </a:r>
          </a:p>
          <a:p>
            <a:pPr algn="l" marL="578826" indent="-289413" lvl="1">
              <a:lnSpc>
                <a:spcPts val="3753"/>
              </a:lnSpc>
              <a:buFont typeface="Arial"/>
              <a:buChar char="•"/>
            </a:pPr>
            <a:r>
              <a:rPr lang="en-US" sz="2680" spc="-211">
                <a:solidFill>
                  <a:srgbClr val="000000"/>
                </a:solidFill>
                <a:latin typeface="Garet"/>
                <a:ea typeface="Garet"/>
                <a:cs typeface="Garet"/>
                <a:sym typeface="Garet"/>
              </a:rPr>
              <a:t>Tujuan: Memastikan data di staging selalu sinkron dengan sumber tanpa perlu memikirkan change tracking yang rumit di sisi</a:t>
            </a:r>
            <a:r>
              <a:rPr lang="en-US" sz="2680" spc="-211">
                <a:solidFill>
                  <a:srgbClr val="000000"/>
                </a:solidFill>
                <a:latin typeface="Garet"/>
                <a:ea typeface="Garet"/>
                <a:cs typeface="Garet"/>
                <a:sym typeface="Garet"/>
              </a:rPr>
              <a:t> </a:t>
            </a:r>
            <a:r>
              <a:rPr lang="en-US" sz="2680" spc="-211">
                <a:solidFill>
                  <a:srgbClr val="000000"/>
                </a:solidFill>
                <a:latin typeface="Garet"/>
                <a:ea typeface="Garet"/>
                <a:cs typeface="Garet"/>
                <a:sym typeface="Garet"/>
              </a:rPr>
              <a:t>sumber.</a:t>
            </a:r>
          </a:p>
          <a:p>
            <a:pPr algn="l">
              <a:lnSpc>
                <a:spcPts val="3753"/>
              </a:lnSpc>
            </a:pPr>
            <a:r>
              <a:rPr lang="en-US" sz="2680" spc="-211">
                <a:solidFill>
                  <a:srgbClr val="000000"/>
                </a:solidFill>
                <a:latin typeface="Garet"/>
                <a:ea typeface="Garet"/>
                <a:cs typeface="Garet"/>
                <a:sym typeface="Garet"/>
              </a:rPr>
              <a:t>B. Strategi Dimensi (Dimensions)</a:t>
            </a:r>
          </a:p>
          <a:p>
            <a:pPr algn="l">
              <a:lnSpc>
                <a:spcPts val="3753"/>
              </a:lnSpc>
            </a:pPr>
            <a:r>
              <a:rPr lang="en-US" sz="2680" spc="-211">
                <a:solidFill>
                  <a:srgbClr val="000000"/>
                </a:solidFill>
                <a:latin typeface="Garet"/>
                <a:ea typeface="Garet"/>
                <a:cs typeface="Garet"/>
                <a:sym typeface="Garet"/>
              </a:rPr>
              <a:t>Dim_Unit, Dim_Position, Dim_Rank:</a:t>
            </a:r>
          </a:p>
          <a:p>
            <a:pPr algn="l" marL="578826" indent="-289413" lvl="1">
              <a:lnSpc>
                <a:spcPts val="3753"/>
              </a:lnSpc>
              <a:buFont typeface="Arial"/>
              <a:buChar char="•"/>
            </a:pPr>
            <a:r>
              <a:rPr lang="en-US" sz="2680" spc="-211">
                <a:solidFill>
                  <a:srgbClr val="000000"/>
                </a:solidFill>
                <a:latin typeface="Garet"/>
                <a:ea typeface="Garet"/>
                <a:cs typeface="Garet"/>
                <a:sym typeface="Garet"/>
              </a:rPr>
              <a:t>Metode: Incremental Insert.</a:t>
            </a:r>
          </a:p>
          <a:p>
            <a:pPr algn="l" marL="578826" indent="-289413" lvl="1">
              <a:lnSpc>
                <a:spcPts val="3753"/>
              </a:lnSpc>
              <a:buFont typeface="Arial"/>
              <a:buChar char="•"/>
            </a:pPr>
            <a:r>
              <a:rPr lang="en-US" sz="2680" spc="-211">
                <a:solidFill>
                  <a:srgbClr val="000000"/>
                </a:solidFill>
                <a:latin typeface="Garet"/>
                <a:ea typeface="Garet"/>
                <a:cs typeface="Garet"/>
                <a:sym typeface="Garet"/>
              </a:rPr>
              <a:t>Logika: Menggunakan WHERE NOT EXISTS. Hanya data referensi</a:t>
            </a:r>
            <a:r>
              <a:rPr lang="en-US" sz="2680" spc="-211">
                <a:solidFill>
                  <a:srgbClr val="000000"/>
                </a:solidFill>
                <a:latin typeface="Garet"/>
                <a:ea typeface="Garet"/>
                <a:cs typeface="Garet"/>
                <a:sym typeface="Garet"/>
              </a:rPr>
              <a:t> b</a:t>
            </a:r>
            <a:r>
              <a:rPr lang="en-US" sz="2680" spc="-211">
                <a:solidFill>
                  <a:srgbClr val="000000"/>
                </a:solidFill>
                <a:latin typeface="Garet"/>
                <a:ea typeface="Garet"/>
                <a:cs typeface="Garet"/>
                <a:sym typeface="Garet"/>
              </a:rPr>
              <a:t>aru yang dimasukkan. Data lama tidak diubah.</a:t>
            </a:r>
          </a:p>
          <a:p>
            <a:pPr algn="l">
              <a:lnSpc>
                <a:spcPts val="3753"/>
              </a:lnSpc>
            </a:pPr>
            <a:r>
              <a:rPr lang="en-US" sz="2680" spc="-211">
                <a:solidFill>
                  <a:srgbClr val="000000"/>
                </a:solidFill>
                <a:latin typeface="Garet"/>
                <a:ea typeface="Garet"/>
                <a:cs typeface="Garet"/>
                <a:sym typeface="Garet"/>
              </a:rPr>
              <a:t>D</a:t>
            </a:r>
            <a:r>
              <a:rPr lang="en-US" sz="2680" spc="-211">
                <a:solidFill>
                  <a:srgbClr val="000000"/>
                </a:solidFill>
                <a:latin typeface="Garet"/>
                <a:ea typeface="Garet"/>
                <a:cs typeface="Garet"/>
                <a:sym typeface="Garet"/>
              </a:rPr>
              <a:t>im_Employee:</a:t>
            </a:r>
          </a:p>
          <a:p>
            <a:pPr algn="l" marL="578826" indent="-289413" lvl="1">
              <a:lnSpc>
                <a:spcPts val="3753"/>
              </a:lnSpc>
              <a:buFont typeface="Arial"/>
              <a:buChar char="•"/>
            </a:pPr>
            <a:r>
              <a:rPr lang="en-US" sz="2680" spc="-211">
                <a:solidFill>
                  <a:srgbClr val="000000"/>
                </a:solidFill>
                <a:latin typeface="Garet"/>
                <a:ea typeface="Garet"/>
                <a:cs typeface="Garet"/>
                <a:sym typeface="Garet"/>
              </a:rPr>
              <a:t>Metode: SCD Type 1 (Slowly Changing Dimension Type 1).</a:t>
            </a:r>
          </a:p>
          <a:p>
            <a:pPr algn="l" marL="578826" indent="-289413" lvl="1">
              <a:lnSpc>
                <a:spcPts val="3753"/>
              </a:lnSpc>
              <a:buFont typeface="Arial"/>
              <a:buChar char="•"/>
            </a:pPr>
            <a:r>
              <a:rPr lang="en-US" sz="2680" spc="-211">
                <a:solidFill>
                  <a:srgbClr val="000000"/>
                </a:solidFill>
                <a:latin typeface="Garet"/>
                <a:ea typeface="Garet"/>
                <a:cs typeface="Garet"/>
                <a:sym typeface="Garet"/>
              </a:rPr>
              <a:t>Logika: Menggunakan MERGE. Jika dat</a:t>
            </a:r>
            <a:r>
              <a:rPr lang="en-US" sz="2680" spc="-211">
                <a:solidFill>
                  <a:srgbClr val="000000"/>
                </a:solidFill>
                <a:latin typeface="Garet"/>
                <a:ea typeface="Garet"/>
                <a:cs typeface="Garet"/>
                <a:sym typeface="Garet"/>
              </a:rPr>
              <a:t>a</a:t>
            </a:r>
            <a:r>
              <a:rPr lang="en-US" sz="2680" spc="-211">
                <a:solidFill>
                  <a:srgbClr val="000000"/>
                </a:solidFill>
                <a:latin typeface="Garet"/>
                <a:ea typeface="Garet"/>
                <a:cs typeface="Garet"/>
                <a:sym typeface="Garet"/>
              </a:rPr>
              <a:t> pegawai berubah (misal ganti nama atau status), data lama di-overwrite. Tidak ada riwayat perubahan atribut dimensi yang disimpan.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Strategi ETL</a:t>
            </a:r>
          </a:p>
        </p:txBody>
      </p:sp>
      <p:sp>
        <p:nvSpPr>
          <p:cNvPr name="TextBox 8" id="8"/>
          <p:cNvSpPr txBox="true"/>
          <p:nvPr/>
        </p:nvSpPr>
        <p:spPr>
          <a:xfrm rot="0">
            <a:off x="490364" y="1898652"/>
            <a:ext cx="14157908" cy="6920230"/>
          </a:xfrm>
          <a:prstGeom prst="rect">
            <a:avLst/>
          </a:prstGeom>
        </p:spPr>
        <p:txBody>
          <a:bodyPr anchor="t" rtlCol="false" tIns="0" lIns="0" bIns="0" rIns="0">
            <a:spAutoFit/>
          </a:bodyPr>
          <a:lstStyle/>
          <a:p>
            <a:pPr algn="l">
              <a:lnSpc>
                <a:spcPts val="3919"/>
              </a:lnSpc>
            </a:pPr>
            <a:r>
              <a:rPr lang="en-US" sz="2799" spc="-221">
                <a:solidFill>
                  <a:srgbClr val="000000"/>
                </a:solidFill>
                <a:latin typeface="Garet"/>
                <a:ea typeface="Garet"/>
                <a:cs typeface="Garet"/>
                <a:sym typeface="Garet"/>
              </a:rPr>
              <a:t>C. Stra</a:t>
            </a:r>
            <a:r>
              <a:rPr lang="en-US" sz="2799" spc="-221">
                <a:solidFill>
                  <a:srgbClr val="000000"/>
                </a:solidFill>
                <a:latin typeface="Garet"/>
                <a:ea typeface="Garet"/>
                <a:cs typeface="Garet"/>
                <a:sym typeface="Garet"/>
              </a:rPr>
              <a:t>tegi Fakta (Facts)</a:t>
            </a:r>
          </a:p>
          <a:p>
            <a:pPr algn="l">
              <a:lnSpc>
                <a:spcPts val="3919"/>
              </a:lnSpc>
            </a:pPr>
            <a:r>
              <a:rPr lang="en-US" sz="2799" spc="-221">
                <a:solidFill>
                  <a:srgbClr val="000000"/>
                </a:solidFill>
                <a:latin typeface="Garet"/>
                <a:ea typeface="Garet"/>
                <a:cs typeface="Garet"/>
                <a:sym typeface="Garet"/>
              </a:rPr>
              <a:t>Fact_Attendance (Transaksi Harian):</a:t>
            </a:r>
          </a:p>
          <a:p>
            <a:pPr algn="l" marL="604519" indent="-302260" lvl="1">
              <a:lnSpc>
                <a:spcPts val="3919"/>
              </a:lnSpc>
              <a:buFont typeface="Arial"/>
              <a:buChar char="•"/>
            </a:pPr>
            <a:r>
              <a:rPr lang="en-US" sz="2799" spc="-221">
                <a:solidFill>
                  <a:srgbClr val="000000"/>
                </a:solidFill>
                <a:latin typeface="Garet"/>
                <a:ea typeface="Garet"/>
                <a:cs typeface="Garet"/>
                <a:sym typeface="Garet"/>
              </a:rPr>
              <a:t>Metode: Idempotency (Delete-Insert).</a:t>
            </a:r>
          </a:p>
          <a:p>
            <a:pPr algn="l" marL="604519" indent="-302260" lvl="1">
              <a:lnSpc>
                <a:spcPts val="3919"/>
              </a:lnSpc>
              <a:buFont typeface="Arial"/>
              <a:buChar char="•"/>
            </a:pPr>
            <a:r>
              <a:rPr lang="en-US" sz="2799" spc="-221">
                <a:solidFill>
                  <a:srgbClr val="000000"/>
                </a:solidFill>
                <a:latin typeface="Garet"/>
                <a:ea typeface="Garet"/>
                <a:cs typeface="Garet"/>
                <a:sym typeface="Garet"/>
              </a:rPr>
              <a:t>Logika: Sebelum insert, script menghapus data pada DateKey yang bersangkutan. Ini mencegah duplikasi jika</a:t>
            </a:r>
            <a:r>
              <a:rPr lang="en-US" sz="2799" spc="-221">
                <a:solidFill>
                  <a:srgbClr val="000000"/>
                </a:solidFill>
                <a:latin typeface="Garet"/>
                <a:ea typeface="Garet"/>
                <a:cs typeface="Garet"/>
                <a:sym typeface="Garet"/>
              </a:rPr>
              <a:t> ETL di</a:t>
            </a:r>
            <a:r>
              <a:rPr lang="en-US" sz="2799" spc="-221">
                <a:solidFill>
                  <a:srgbClr val="000000"/>
                </a:solidFill>
                <a:latin typeface="Garet"/>
                <a:ea typeface="Garet"/>
                <a:cs typeface="Garet"/>
                <a:sym typeface="Garet"/>
              </a:rPr>
              <a:t>jalankan ulang (Rerun) pada hari yang sama.</a:t>
            </a:r>
          </a:p>
          <a:p>
            <a:pPr algn="l" marL="604519" indent="-302260" lvl="1">
              <a:lnSpc>
                <a:spcPts val="3919"/>
              </a:lnSpc>
              <a:buFont typeface="Arial"/>
              <a:buChar char="•"/>
            </a:pPr>
            <a:r>
              <a:rPr lang="en-US" sz="2799" spc="-221">
                <a:solidFill>
                  <a:srgbClr val="000000"/>
                </a:solidFill>
                <a:latin typeface="Garet"/>
                <a:ea typeface="Garet"/>
                <a:cs typeface="Garet"/>
                <a:sym typeface="Garet"/>
              </a:rPr>
              <a:t>Transformasi: Menghitung DurasiKerja dan MenitTerlambat on-the-fly saat pemindahan dari Staging ke Fact.</a:t>
            </a:r>
          </a:p>
          <a:p>
            <a:pPr algn="l">
              <a:lnSpc>
                <a:spcPts val="3919"/>
              </a:lnSpc>
            </a:pPr>
            <a:r>
              <a:rPr lang="en-US" sz="2799" spc="-221">
                <a:solidFill>
                  <a:srgbClr val="000000"/>
                </a:solidFill>
                <a:latin typeface="Garet"/>
                <a:ea typeface="Garet"/>
                <a:cs typeface="Garet"/>
                <a:sym typeface="Garet"/>
              </a:rPr>
              <a:t>Fact_Performance (Transaksi Berkala):</a:t>
            </a:r>
          </a:p>
          <a:p>
            <a:pPr algn="l" marL="604519" indent="-302260" lvl="1">
              <a:lnSpc>
                <a:spcPts val="3919"/>
              </a:lnSpc>
              <a:buFont typeface="Arial"/>
              <a:buChar char="•"/>
            </a:pPr>
            <a:r>
              <a:rPr lang="en-US" sz="2799" spc="-221">
                <a:solidFill>
                  <a:srgbClr val="000000"/>
                </a:solidFill>
                <a:latin typeface="Garet"/>
                <a:ea typeface="Garet"/>
                <a:cs typeface="Garet"/>
                <a:sym typeface="Garet"/>
              </a:rPr>
              <a:t>Metode: Check Existence.</a:t>
            </a:r>
          </a:p>
          <a:p>
            <a:pPr algn="l" marL="604519" indent="-302260" lvl="1">
              <a:lnSpc>
                <a:spcPts val="3919"/>
              </a:lnSpc>
              <a:buFont typeface="Arial"/>
              <a:buChar char="•"/>
            </a:pPr>
            <a:r>
              <a:rPr lang="en-US" sz="2799" spc="-221">
                <a:solidFill>
                  <a:srgbClr val="000000"/>
                </a:solidFill>
                <a:latin typeface="Garet"/>
                <a:ea typeface="Garet"/>
                <a:cs typeface="Garet"/>
                <a:sym typeface="Garet"/>
              </a:rPr>
              <a:t>Logika: Data hanya dimasukkan jika kombinasi DateKey dan EmployeeKey</a:t>
            </a:r>
            <a:r>
              <a:rPr lang="en-US" sz="2799" spc="-221">
                <a:solidFill>
                  <a:srgbClr val="000000"/>
                </a:solidFill>
                <a:latin typeface="Garet"/>
                <a:ea typeface="Garet"/>
                <a:cs typeface="Garet"/>
                <a:sym typeface="Garet"/>
              </a:rPr>
              <a:t> </a:t>
            </a:r>
            <a:r>
              <a:rPr lang="en-US" sz="2799" spc="-221">
                <a:solidFill>
                  <a:srgbClr val="000000"/>
                </a:solidFill>
                <a:latin typeface="Garet"/>
                <a:ea typeface="Garet"/>
                <a:cs typeface="Garet"/>
                <a:sym typeface="Garet"/>
              </a:rPr>
              <a:t>belum ada.</a:t>
            </a:r>
          </a:p>
          <a:p>
            <a:pPr algn="l">
              <a:lnSpc>
                <a:spcPts val="3919"/>
              </a:lnSpc>
            </a:pPr>
            <a:r>
              <a:rPr lang="en-US" sz="2799" spc="-221">
                <a:solidFill>
                  <a:srgbClr val="000000"/>
                </a:solidFill>
                <a:latin typeface="Garet"/>
                <a:ea typeface="Garet"/>
                <a:cs typeface="Garet"/>
                <a:sym typeface="Garet"/>
              </a:rPr>
              <a:t>Fact_EmployeeSnapshot (Snapshot Bulanan):</a:t>
            </a:r>
          </a:p>
          <a:p>
            <a:pPr algn="l" marL="604519" indent="-302260" lvl="1">
              <a:lnSpc>
                <a:spcPts val="3919"/>
              </a:lnSpc>
              <a:buFont typeface="Arial"/>
              <a:buChar char="•"/>
            </a:pPr>
            <a:r>
              <a:rPr lang="en-US" sz="2799" spc="-221">
                <a:solidFill>
                  <a:srgbClr val="000000"/>
                </a:solidFill>
                <a:latin typeface="Garet"/>
                <a:ea typeface="Garet"/>
                <a:cs typeface="Garet"/>
                <a:sym typeface="Garet"/>
              </a:rPr>
              <a:t>Metode: Periodic Snapshot Fact Table.</a:t>
            </a:r>
          </a:p>
          <a:p>
            <a:pPr algn="l" marL="604519" indent="-302260" lvl="1">
              <a:lnSpc>
                <a:spcPts val="3919"/>
              </a:lnSpc>
              <a:buFont typeface="Arial"/>
              <a:buChar char="•"/>
            </a:pPr>
            <a:r>
              <a:rPr lang="en-US" sz="2799" spc="-221">
                <a:solidFill>
                  <a:srgbClr val="000000"/>
                </a:solidFill>
                <a:latin typeface="Garet"/>
                <a:ea typeface="Garet"/>
                <a:cs typeface="Garet"/>
                <a:sym typeface="Garet"/>
              </a:rPr>
              <a:t>Logika: Mengambil potret gaji dan posisi pegawai pada satu titik</a:t>
            </a:r>
            <a:r>
              <a:rPr lang="en-US" sz="2799" spc="-221">
                <a:solidFill>
                  <a:srgbClr val="000000"/>
                </a:solidFill>
                <a:latin typeface="Garet"/>
                <a:ea typeface="Garet"/>
                <a:cs typeface="Garet"/>
                <a:sym typeface="Garet"/>
              </a:rPr>
              <a:t> w</a:t>
            </a:r>
            <a:r>
              <a:rPr lang="en-US" sz="2799" spc="-221">
                <a:solidFill>
                  <a:srgbClr val="000000"/>
                </a:solidFill>
                <a:latin typeface="Garet"/>
                <a:ea typeface="Garet"/>
                <a:cs typeface="Garet"/>
                <a:sym typeface="Garet"/>
              </a:rPr>
              <a:t>aktu (awal bulan). DateKey dibentuk dari Tahun + Bulan + '01'. In</a:t>
            </a:r>
            <a:r>
              <a:rPr lang="en-US" sz="2799" spc="-221">
                <a:solidFill>
                  <a:srgbClr val="000000"/>
                </a:solidFill>
                <a:latin typeface="Garet"/>
                <a:ea typeface="Garet"/>
                <a:cs typeface="Garet"/>
                <a:sym typeface="Garet"/>
              </a:rPr>
              <a:t>i berguna untuk analisis tren gaji bulanan.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06 ETL Arsitektur</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Strategi ETL</a:t>
            </a:r>
          </a:p>
        </p:txBody>
      </p:sp>
      <p:sp>
        <p:nvSpPr>
          <p:cNvPr name="TextBox 8" id="8"/>
          <p:cNvSpPr txBox="true"/>
          <p:nvPr/>
        </p:nvSpPr>
        <p:spPr>
          <a:xfrm rot="0">
            <a:off x="490364" y="1908177"/>
            <a:ext cx="12510397" cy="3061889"/>
          </a:xfrm>
          <a:prstGeom prst="rect">
            <a:avLst/>
          </a:prstGeom>
        </p:spPr>
        <p:txBody>
          <a:bodyPr anchor="t" rtlCol="false" tIns="0" lIns="0" bIns="0" rIns="0">
            <a:spAutoFit/>
          </a:bodyPr>
          <a:lstStyle/>
          <a:p>
            <a:pPr algn="l">
              <a:lnSpc>
                <a:spcPts val="4073"/>
              </a:lnSpc>
            </a:pPr>
            <a:r>
              <a:rPr lang="en-US" sz="2909" spc="-229">
                <a:solidFill>
                  <a:srgbClr val="000000"/>
                </a:solidFill>
                <a:latin typeface="Garet"/>
                <a:ea typeface="Garet"/>
                <a:cs typeface="Garet"/>
                <a:sym typeface="Garet"/>
              </a:rPr>
              <a:t>D. P</a:t>
            </a:r>
            <a:r>
              <a:rPr lang="en-US" sz="2909" spc="-229">
                <a:solidFill>
                  <a:srgbClr val="000000"/>
                </a:solidFill>
                <a:latin typeface="Garet"/>
                <a:ea typeface="Garet"/>
                <a:cs typeface="Garet"/>
                <a:sym typeface="Garet"/>
              </a:rPr>
              <a:t>enanganan Kualitas Data</a:t>
            </a:r>
          </a:p>
          <a:p>
            <a:pPr algn="l" marL="628191" indent="-314096" lvl="1">
              <a:lnSpc>
                <a:spcPts val="4073"/>
              </a:lnSpc>
              <a:buFont typeface="Arial"/>
              <a:buChar char="•"/>
            </a:pPr>
            <a:r>
              <a:rPr lang="en-US" sz="2909" spc="-229">
                <a:solidFill>
                  <a:srgbClr val="000000"/>
                </a:solidFill>
                <a:latin typeface="Garet"/>
                <a:ea typeface="Garet"/>
                <a:cs typeface="Garet"/>
                <a:sym typeface="Garet"/>
              </a:rPr>
              <a:t>Surrogate Key Lookup: Menggunakan LEFT JOIN ke tabel Dimensi untuk</a:t>
            </a:r>
            <a:r>
              <a:rPr lang="en-US" sz="2909" spc="-229">
                <a:solidFill>
                  <a:srgbClr val="000000"/>
                </a:solidFill>
                <a:latin typeface="Garet"/>
                <a:ea typeface="Garet"/>
                <a:cs typeface="Garet"/>
                <a:sym typeface="Garet"/>
              </a:rPr>
              <a:t> mend</a:t>
            </a:r>
            <a:r>
              <a:rPr lang="en-US" sz="2909" spc="-229">
                <a:solidFill>
                  <a:srgbClr val="000000"/>
                </a:solidFill>
                <a:latin typeface="Garet"/>
                <a:ea typeface="Garet"/>
                <a:cs typeface="Garet"/>
                <a:sym typeface="Garet"/>
              </a:rPr>
              <a:t>apatkan Key (bukan ID asli).</a:t>
            </a:r>
          </a:p>
          <a:p>
            <a:pPr algn="l" marL="628191" indent="-314096" lvl="1">
              <a:lnSpc>
                <a:spcPts val="4073"/>
              </a:lnSpc>
              <a:buFont typeface="Arial"/>
              <a:buChar char="•"/>
            </a:pPr>
            <a:r>
              <a:rPr lang="en-US" sz="2909" spc="-229">
                <a:solidFill>
                  <a:srgbClr val="000000"/>
                </a:solidFill>
                <a:latin typeface="Garet"/>
                <a:ea typeface="Garet"/>
                <a:cs typeface="Garet"/>
                <a:sym typeface="Garet"/>
              </a:rPr>
              <a:t>Handling Null: Menggunakan ISNULL(Key, -1) untuk memastikan integritas referensial tetap terjaga meskipun data dimensi</a:t>
            </a:r>
            <a:r>
              <a:rPr lang="en-US" sz="2909" spc="-229">
                <a:solidFill>
                  <a:srgbClr val="000000"/>
                </a:solidFill>
                <a:latin typeface="Garet"/>
                <a:ea typeface="Garet"/>
                <a:cs typeface="Garet"/>
                <a:sym typeface="Garet"/>
              </a:rPr>
              <a:t> </a:t>
            </a:r>
            <a:r>
              <a:rPr lang="en-US" sz="2909" spc="-229">
                <a:solidFill>
                  <a:srgbClr val="000000"/>
                </a:solidFill>
                <a:latin typeface="Garet"/>
                <a:ea typeface="Garet"/>
                <a:cs typeface="Garet"/>
                <a:sym typeface="Garet"/>
              </a:rPr>
              <a:t>belum lengkap (Late Arriving Dimension)</a:t>
            </a:r>
            <a:r>
              <a:rPr lang="en-US" sz="2909" spc="-229">
                <a:solidFill>
                  <a:srgbClr val="000000"/>
                </a:solidFill>
                <a:latin typeface="Garet"/>
                <a:ea typeface="Garet"/>
                <a:cs typeface="Garet"/>
                <a:sym typeface="Garet"/>
              </a:rPr>
              <a: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418325"/>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
        <p:nvSpPr>
          <p:cNvPr name="TextBox 5" id="5"/>
          <p:cNvSpPr txBox="true"/>
          <p:nvPr/>
        </p:nvSpPr>
        <p:spPr>
          <a:xfrm rot="0">
            <a:off x="1028700" y="1833932"/>
            <a:ext cx="13254386" cy="9766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ARSITEKTUR SISTEM</a:t>
            </a:r>
          </a:p>
          <a:p>
            <a:pPr algn="l">
              <a:lnSpc>
                <a:spcPts val="3919"/>
              </a:lnSpc>
            </a:pPr>
          </a:p>
        </p:txBody>
      </p:sp>
      <p:sp>
        <p:nvSpPr>
          <p:cNvPr name="Freeform 6" id="6"/>
          <p:cNvSpPr/>
          <p:nvPr/>
        </p:nvSpPr>
        <p:spPr>
          <a:xfrm flipH="false" flipV="false" rot="0">
            <a:off x="1028700" y="7551854"/>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2489085"/>
            <a:ext cx="13564478" cy="5062769"/>
          </a:xfrm>
          <a:prstGeom prst="rect">
            <a:avLst/>
          </a:prstGeom>
        </p:spPr>
        <p:txBody>
          <a:bodyPr anchor="t" rtlCol="false" tIns="0" lIns="0" bIns="0" rIns="0">
            <a:spAutoFit/>
          </a:bodyPr>
          <a:lstStyle/>
          <a:p>
            <a:pPr algn="l">
              <a:lnSpc>
                <a:spcPts val="4011"/>
              </a:lnSpc>
              <a:spcBef>
                <a:spcPct val="0"/>
              </a:spcBef>
            </a:pPr>
            <a:r>
              <a:rPr lang="en-US" sz="2865" spc="-226">
                <a:solidFill>
                  <a:srgbClr val="000000"/>
                </a:solidFill>
                <a:latin typeface="Garet"/>
                <a:ea typeface="Garet"/>
                <a:cs typeface="Garet"/>
                <a:sym typeface="Garet"/>
              </a:rPr>
              <a:t>Sistem ini mengadopsi arsitektur Single-Database ELT, di mana data Sumber (OLTP), Staging, dan Data Warehouse (OLAP) berada dalam satu server SQL Server untuk meminimalkan latensi jaringan dan memaksimalkan performa pemrosesan set data.</a:t>
            </a:r>
          </a:p>
          <a:p>
            <a:pPr algn="l">
              <a:lnSpc>
                <a:spcPts val="4011"/>
              </a:lnSpc>
              <a:spcBef>
                <a:spcPct val="0"/>
              </a:spcBef>
            </a:pPr>
            <a:r>
              <a:rPr lang="en-US" sz="2865" spc="-226">
                <a:solidFill>
                  <a:srgbClr val="000000"/>
                </a:solidFill>
                <a:latin typeface="Garet"/>
                <a:ea typeface="Garet"/>
                <a:cs typeface="Garet"/>
                <a:sym typeface="Garet"/>
              </a:rPr>
              <a:t>Diagram Alur Data (Data Flow) Data mengalir dari tabel OLTP (Sumber) menuju Schema Staging melalui proses TRUNCATE dan INSERT. Dari Staging, data ditransformasi menggunakan logika MERGE dan JOIN ke dalam tabel Data Warehouse (DWH). Selanjutnya, data dari DWH diproses masuk ke dalam SSAS Cube untuk kemudian divisualisasikan secara langsung (Live Query) menggunakan Power BI.</a:t>
            </a:r>
          </a:p>
          <a:p>
            <a:pPr algn="l">
              <a:lnSpc>
                <a:spcPts val="4011"/>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418325"/>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
        <p:nvSpPr>
          <p:cNvPr name="TextBox 5" id="5"/>
          <p:cNvSpPr txBox="true"/>
          <p:nvPr/>
        </p:nvSpPr>
        <p:spPr>
          <a:xfrm rot="0">
            <a:off x="1028700" y="1833932"/>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DESAIN DATABASE</a:t>
            </a:r>
          </a:p>
        </p:txBody>
      </p:sp>
      <p:sp>
        <p:nvSpPr>
          <p:cNvPr name="Freeform 6" id="6"/>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2248587"/>
            <a:ext cx="13564478" cy="8104096"/>
          </a:xfrm>
          <a:prstGeom prst="rect">
            <a:avLst/>
          </a:prstGeom>
        </p:spPr>
        <p:txBody>
          <a:bodyPr anchor="t" rtlCol="false" tIns="0" lIns="0" bIns="0" rIns="0">
            <a:spAutoFit/>
          </a:bodyPr>
          <a:lstStyle/>
          <a:p>
            <a:pPr algn="l">
              <a:lnSpc>
                <a:spcPts val="4011"/>
              </a:lnSpc>
              <a:spcBef>
                <a:spcPct val="0"/>
              </a:spcBef>
            </a:pPr>
            <a:r>
              <a:rPr lang="en-US" sz="2865" spc="-226">
                <a:solidFill>
                  <a:srgbClr val="000000"/>
                </a:solidFill>
                <a:latin typeface="Garet"/>
                <a:ea typeface="Garet"/>
                <a:cs typeface="Garet"/>
                <a:sym typeface="Garet"/>
              </a:rPr>
              <a:t>Da</a:t>
            </a:r>
            <a:r>
              <a:rPr lang="en-US" sz="2865" spc="-226">
                <a:solidFill>
                  <a:srgbClr val="000000"/>
                </a:solidFill>
                <a:latin typeface="Garet"/>
                <a:ea typeface="Garet"/>
                <a:cs typeface="Garet"/>
                <a:sym typeface="Garet"/>
              </a:rPr>
              <a:t>tabase "Kepegawaian_DB" disegmentasi secara logis menggunakan penamaan tabel (Naming Convention) dan Skema (Schema) untuk memisahkan fungsi operasional dan analitik.</a:t>
            </a:r>
          </a:p>
          <a:p>
            <a:pPr algn="l">
              <a:lnSpc>
                <a:spcPts val="4011"/>
              </a:lnSpc>
              <a:spcBef>
                <a:spcPct val="0"/>
              </a:spcBef>
            </a:pPr>
            <a:r>
              <a:rPr lang="en-US" sz="2865" spc="-226">
                <a:solidFill>
                  <a:srgbClr val="000000"/>
                </a:solidFill>
                <a:latin typeface="Garet"/>
                <a:ea typeface="Garet"/>
                <a:cs typeface="Garet"/>
                <a:sym typeface="Garet"/>
              </a:rPr>
              <a:t>A. Layer Data Sumber (Source)</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Prefix/Schema: Ms_ dan Tr_</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Deskripsi: Simulasi data operasional harian.</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Tipe Tabel: Relational (3NF)</a:t>
            </a:r>
          </a:p>
          <a:p>
            <a:pPr algn="l">
              <a:lnSpc>
                <a:spcPts val="4011"/>
              </a:lnSpc>
              <a:spcBef>
                <a:spcPct val="0"/>
              </a:spcBef>
            </a:pPr>
            <a:r>
              <a:rPr lang="en-US" sz="2865" spc="-226">
                <a:solidFill>
                  <a:srgbClr val="000000"/>
                </a:solidFill>
                <a:latin typeface="Garet"/>
                <a:ea typeface="Garet"/>
                <a:cs typeface="Garet"/>
                <a:sym typeface="Garet"/>
              </a:rPr>
              <a:t>B. Layer Staging</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Prefix/Schema: Staging.</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Deskripsi: Area penampungan sementara (Raw Data).</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Tipe Tabel: Heap (No Constraints)</a:t>
            </a:r>
          </a:p>
          <a:p>
            <a:pPr algn="l">
              <a:lnSpc>
                <a:spcPts val="4011"/>
              </a:lnSpc>
              <a:spcBef>
                <a:spcPct val="0"/>
              </a:spcBef>
            </a:pPr>
            <a:r>
              <a:rPr lang="en-US" sz="2865" spc="-226">
                <a:solidFill>
                  <a:srgbClr val="000000"/>
                </a:solidFill>
                <a:latin typeface="Garet"/>
                <a:ea typeface="Garet"/>
                <a:cs typeface="Garet"/>
                <a:sym typeface="Garet"/>
              </a:rPr>
              <a:t>C. Layer Data Warehouse</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Prefix/Schema: Dim_ dan Fact_</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Deskripsi: Data hasil transformasi siap analisis.</a:t>
            </a:r>
          </a:p>
          <a:p>
            <a:pPr algn="l" marL="618662" indent="-309331" lvl="1">
              <a:lnSpc>
                <a:spcPts val="4011"/>
              </a:lnSpc>
              <a:spcBef>
                <a:spcPct val="0"/>
              </a:spcBef>
              <a:buFont typeface="Arial"/>
              <a:buChar char="•"/>
            </a:pPr>
            <a:r>
              <a:rPr lang="en-US" sz="2865" spc="-226">
                <a:solidFill>
                  <a:srgbClr val="000000"/>
                </a:solidFill>
                <a:latin typeface="Garet"/>
                <a:ea typeface="Garet"/>
                <a:cs typeface="Garet"/>
                <a:sym typeface="Garet"/>
              </a:rPr>
              <a:t>Tipe Tabel: Dimensional (Star/Galaxy Schema)</a:t>
            </a:r>
          </a:p>
          <a:p>
            <a:pPr algn="l">
              <a:lnSpc>
                <a:spcPts val="4011"/>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143000"/>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
        <p:nvSpPr>
          <p:cNvPr name="TextBox 5" id="5"/>
          <p:cNvSpPr txBox="true"/>
          <p:nvPr/>
        </p:nvSpPr>
        <p:spPr>
          <a:xfrm rot="0">
            <a:off x="1028700" y="1408660"/>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SPESIFIKASI ETL</a:t>
            </a:r>
          </a:p>
        </p:txBody>
      </p:sp>
      <p:sp>
        <p:nvSpPr>
          <p:cNvPr name="Freeform 6" id="6"/>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2044246"/>
            <a:ext cx="12398730" cy="7543309"/>
          </a:xfrm>
          <a:prstGeom prst="rect">
            <a:avLst/>
          </a:prstGeom>
        </p:spPr>
        <p:txBody>
          <a:bodyPr anchor="t" rtlCol="false" tIns="0" lIns="0" bIns="0" rIns="0">
            <a:spAutoFit/>
          </a:bodyPr>
          <a:lstStyle/>
          <a:p>
            <a:pPr algn="l">
              <a:lnSpc>
                <a:spcPts val="3514"/>
              </a:lnSpc>
              <a:spcBef>
                <a:spcPct val="0"/>
              </a:spcBef>
            </a:pPr>
            <a:r>
              <a:rPr lang="en-US" sz="2510" spc="-198">
                <a:solidFill>
                  <a:srgbClr val="000000"/>
                </a:solidFill>
                <a:latin typeface="Garet"/>
                <a:ea typeface="Garet"/>
                <a:cs typeface="Garet"/>
                <a:sym typeface="Garet"/>
              </a:rPr>
              <a:t>Seluruh logika eks</a:t>
            </a:r>
            <a:r>
              <a:rPr lang="en-US" sz="2510" spc="-198">
                <a:solidFill>
                  <a:srgbClr val="000000"/>
                </a:solidFill>
                <a:latin typeface="Garet"/>
                <a:ea typeface="Garet"/>
                <a:cs typeface="Garet"/>
                <a:sym typeface="Garet"/>
              </a:rPr>
              <a:t>traksi dan transformasi dikapsulasi dalam satu Stored Procedure utama bernama "dbo.ETL_Master_Load". Prosedur ini tidak memerlukan parameter input dan akan menghasilkan log pesan eksekusi serta data yang ter-update di tabel DWH.</a:t>
            </a:r>
          </a:p>
          <a:p>
            <a:pPr algn="l">
              <a:lnSpc>
                <a:spcPts val="3514"/>
              </a:lnSpc>
              <a:spcBef>
                <a:spcPct val="0"/>
              </a:spcBef>
            </a:pPr>
            <a:r>
              <a:rPr lang="en-US" sz="2510" spc="-198">
                <a:solidFill>
                  <a:srgbClr val="000000"/>
                </a:solidFill>
                <a:latin typeface="Garet"/>
                <a:ea typeface="Garet"/>
                <a:cs typeface="Garet"/>
                <a:sym typeface="Garet"/>
              </a:rPr>
              <a:t>Tahap 1: Extraction (Load to Staging) Strategi yang digunakan adalah Full Reload (Muat Ulang Penuh).</a:t>
            </a:r>
          </a:p>
          <a:p>
            <a:pPr algn="l" marL="542046" indent="-271023" lvl="1">
              <a:lnSpc>
                <a:spcPts val="3514"/>
              </a:lnSpc>
              <a:spcBef>
                <a:spcPct val="0"/>
              </a:spcBef>
              <a:buFont typeface="Arial"/>
              <a:buChar char="•"/>
            </a:pPr>
            <a:r>
              <a:rPr lang="en-US" sz="2510" spc="-198">
                <a:solidFill>
                  <a:srgbClr val="000000"/>
                </a:solidFill>
                <a:latin typeface="Garet"/>
                <a:ea typeface="Garet"/>
                <a:cs typeface="Garet"/>
                <a:sym typeface="Garet"/>
              </a:rPr>
              <a:t>Logika T-SQL: Membersihkan tabel staging menggunakan perintah TRUNCATE TABLE, kemudian menyalin data mentah dari tabel sumber menggunakan perintah INSERT INTO ... SELECT.</a:t>
            </a:r>
          </a:p>
          <a:p>
            <a:pPr algn="l" marL="542046" indent="-271023" lvl="1">
              <a:lnSpc>
                <a:spcPts val="3514"/>
              </a:lnSpc>
              <a:spcBef>
                <a:spcPct val="0"/>
              </a:spcBef>
              <a:buFont typeface="Arial"/>
              <a:buChar char="•"/>
            </a:pPr>
            <a:r>
              <a:rPr lang="en-US" sz="2510" spc="-198">
                <a:solidFill>
                  <a:srgbClr val="000000"/>
                </a:solidFill>
                <a:latin typeface="Garet"/>
                <a:ea typeface="Garet"/>
                <a:cs typeface="Garet"/>
                <a:sym typeface="Garet"/>
              </a:rPr>
              <a:t>Alasan: TRUNCATE jauh lebih cepat daripada DELETE karena minim logging, sangat efisien untuk data staging yang bersifat sementara.</a:t>
            </a:r>
          </a:p>
          <a:p>
            <a:pPr algn="l">
              <a:lnSpc>
                <a:spcPts val="3514"/>
              </a:lnSpc>
              <a:spcBef>
                <a:spcPct val="0"/>
              </a:spcBef>
            </a:pPr>
            <a:r>
              <a:rPr lang="en-US" sz="2510" spc="-198">
                <a:solidFill>
                  <a:srgbClr val="000000"/>
                </a:solidFill>
                <a:latin typeface="Garet"/>
                <a:ea typeface="Garet"/>
                <a:cs typeface="Garet"/>
                <a:sym typeface="Garet"/>
              </a:rPr>
              <a:t>Tahap 2: Transformation (Business Logic) Transformasi dilakukan menggunakan operasi himpunan (Set-Based Operations) SQL.</a:t>
            </a:r>
          </a:p>
          <a:p>
            <a:pPr algn="l">
              <a:lnSpc>
                <a:spcPts val="3514"/>
              </a:lnSpc>
              <a:spcBef>
                <a:spcPct val="0"/>
              </a:spcBef>
            </a:pPr>
            <a:r>
              <a:rPr lang="en-US" sz="2510" spc="-198">
                <a:solidFill>
                  <a:srgbClr val="000000"/>
                </a:solidFill>
                <a:latin typeface="Garet"/>
                <a:ea typeface="Garet"/>
                <a:cs typeface="Garet"/>
                <a:sym typeface="Garet"/>
              </a:rPr>
              <a:t>A. Penanganan Dimensi (SCD Type 1) Menggunakan perintah MERGE untuk menyinkronkan data Master ke Dimensi.</a:t>
            </a:r>
          </a:p>
          <a:p>
            <a:pPr algn="l" marL="542046" indent="-271023" lvl="1">
              <a:lnSpc>
                <a:spcPts val="3514"/>
              </a:lnSpc>
              <a:spcBef>
                <a:spcPct val="0"/>
              </a:spcBef>
              <a:buFont typeface="Arial"/>
              <a:buChar char="•"/>
            </a:pPr>
            <a:r>
              <a:rPr lang="en-US" sz="2510" spc="-198">
                <a:solidFill>
                  <a:srgbClr val="000000"/>
                </a:solidFill>
                <a:latin typeface="Garet"/>
                <a:ea typeface="Garet"/>
                <a:cs typeface="Garet"/>
                <a:sym typeface="Garet"/>
              </a:rPr>
              <a:t>Logic MATCHED: Jika NIP sudah ada, update Nama/Status (Menimpa data lama).</a:t>
            </a:r>
          </a:p>
          <a:p>
            <a:pPr algn="l" marL="542046" indent="-271023" lvl="1">
              <a:lnSpc>
                <a:spcPts val="3514"/>
              </a:lnSpc>
              <a:spcBef>
                <a:spcPct val="0"/>
              </a:spcBef>
              <a:buFont typeface="Arial"/>
              <a:buChar char="•"/>
            </a:pPr>
            <a:r>
              <a:rPr lang="en-US" sz="2510" spc="-198">
                <a:solidFill>
                  <a:srgbClr val="000000"/>
                </a:solidFill>
                <a:latin typeface="Garet"/>
                <a:ea typeface="Garet"/>
                <a:cs typeface="Garet"/>
                <a:sym typeface="Garet"/>
              </a:rPr>
              <a:t>Logic NO</a:t>
            </a:r>
            <a:r>
              <a:rPr lang="en-US" sz="2510" spc="-198">
                <a:solidFill>
                  <a:srgbClr val="000000"/>
                </a:solidFill>
                <a:latin typeface="Garet"/>
                <a:ea typeface="Garet"/>
                <a:cs typeface="Garet"/>
                <a:sym typeface="Garet"/>
              </a:rPr>
              <a:t>T MATCHED: Jika NIP belum ada, Insert data baru.</a:t>
            </a:r>
          </a:p>
          <a:p>
            <a:pPr algn="l">
              <a:lnSpc>
                <a:spcPts val="3514"/>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418325"/>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
        <p:nvSpPr>
          <p:cNvPr name="TextBox 5" id="5"/>
          <p:cNvSpPr txBox="true"/>
          <p:nvPr/>
        </p:nvSpPr>
        <p:spPr>
          <a:xfrm rot="0">
            <a:off x="1028700" y="1833932"/>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SPESIFIKASI ETL</a:t>
            </a:r>
          </a:p>
        </p:txBody>
      </p:sp>
      <p:sp>
        <p:nvSpPr>
          <p:cNvPr name="Freeform 6" id="6"/>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2420037"/>
            <a:ext cx="13557165" cy="6778747"/>
          </a:xfrm>
          <a:prstGeom prst="rect">
            <a:avLst/>
          </a:prstGeom>
        </p:spPr>
        <p:txBody>
          <a:bodyPr anchor="t" rtlCol="false" tIns="0" lIns="0" bIns="0" rIns="0">
            <a:spAutoFit/>
          </a:bodyPr>
          <a:lstStyle/>
          <a:p>
            <a:pPr algn="l">
              <a:lnSpc>
                <a:spcPts val="3843"/>
              </a:lnSpc>
              <a:spcBef>
                <a:spcPct val="0"/>
              </a:spcBef>
            </a:pPr>
            <a:r>
              <a:rPr lang="en-US" sz="2745" spc="-216">
                <a:solidFill>
                  <a:srgbClr val="000000"/>
                </a:solidFill>
                <a:latin typeface="Garet"/>
                <a:ea typeface="Garet"/>
                <a:cs typeface="Garet"/>
                <a:sym typeface="Garet"/>
              </a:rPr>
              <a:t> Penanganan Fak</a:t>
            </a:r>
            <a:r>
              <a:rPr lang="en-US" sz="2745" spc="-216">
                <a:solidFill>
                  <a:srgbClr val="000000"/>
                </a:solidFill>
                <a:latin typeface="Garet"/>
                <a:ea typeface="Garet"/>
                <a:cs typeface="Garet"/>
                <a:sym typeface="Garet"/>
              </a:rPr>
              <a:t>ta (Calculations &amp; Lookups) Transformasi dilakukan secara langsung (on-the-fly) saat proses INSERT ke tabel fakta.</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Transformasi Waktu (DateKey): Mengubah format tanggal menjadi integer untuk performa indexing. Contoh: mengubah '2025-11-24' menjadi 20251124.</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Lookup Kunci Dimensi (Surrogate Key Lookup): Mengganti kunci bisnis (NIP/Kode) menjadi kunci dimensi (Integer) menggunakan LEFT JOIN.</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Penang</a:t>
            </a:r>
            <a:r>
              <a:rPr lang="en-US" sz="2745" spc="-216">
                <a:solidFill>
                  <a:srgbClr val="000000"/>
                </a:solidFill>
                <a:latin typeface="Garet"/>
                <a:ea typeface="Garet"/>
                <a:cs typeface="Garet"/>
                <a:sym typeface="Garet"/>
              </a:rPr>
              <a:t>anan NULL: Menggunakan fungsi ISNULL(Key, -1) untuk menangani data kotor atau data referensi yang belum tersedia, sehingga proses tidak gagal (error).</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Perhitungan Metrik (Measures):</a:t>
            </a:r>
          </a:p>
          <a:p>
            <a:pPr algn="l" marL="1185378" indent="-395126" lvl="2">
              <a:lnSpc>
                <a:spcPts val="3843"/>
              </a:lnSpc>
              <a:buFont typeface="Arial"/>
              <a:buChar char="⚬"/>
            </a:pPr>
            <a:r>
              <a:rPr lang="en-US" sz="2745" spc="-216">
                <a:solidFill>
                  <a:srgbClr val="000000"/>
                </a:solidFill>
                <a:latin typeface="Garet"/>
                <a:ea typeface="Garet"/>
                <a:cs typeface="Garet"/>
                <a:sym typeface="Garet"/>
              </a:rPr>
              <a:t>Durasi Kerja: Dihitung menggunakan selisih menit antara Jam Masuk dan Jam Keluar dibagi 60.</a:t>
            </a:r>
          </a:p>
          <a:p>
            <a:pPr algn="l" marL="1185378" indent="-395126" lvl="2">
              <a:lnSpc>
                <a:spcPts val="3843"/>
              </a:lnSpc>
              <a:buFont typeface="Arial"/>
              <a:buChar char="⚬"/>
            </a:pPr>
            <a:r>
              <a:rPr lang="en-US" sz="2745" spc="-216">
                <a:solidFill>
                  <a:srgbClr val="000000"/>
                </a:solidFill>
                <a:latin typeface="Garet"/>
                <a:ea typeface="Garet"/>
                <a:cs typeface="Garet"/>
                <a:sym typeface="Garet"/>
              </a:rPr>
              <a:t>Keterlambatan: Dihitung dengan logika CASE WHEN, jika Jam Masuk lebih dari 07:30 maka hitung selisihnya, jika tidak maka 0.</a:t>
            </a:r>
          </a:p>
          <a:p>
            <a:pPr algn="l">
              <a:lnSpc>
                <a:spcPts val="3843"/>
              </a:lnSpc>
              <a:spcBef>
                <a:spcPct val="0"/>
              </a:spcBef>
            </a:pP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418325"/>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
        <p:nvSpPr>
          <p:cNvPr name="TextBox 5" id="5"/>
          <p:cNvSpPr txBox="true"/>
          <p:nvPr/>
        </p:nvSpPr>
        <p:spPr>
          <a:xfrm rot="0">
            <a:off x="1028700" y="1833932"/>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KAMUS DATA TEKNIS</a:t>
            </a:r>
          </a:p>
        </p:txBody>
      </p:sp>
      <p:sp>
        <p:nvSpPr>
          <p:cNvPr name="Freeform 6" id="6"/>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2420037"/>
            <a:ext cx="13557165" cy="6778747"/>
          </a:xfrm>
          <a:prstGeom prst="rect">
            <a:avLst/>
          </a:prstGeom>
        </p:spPr>
        <p:txBody>
          <a:bodyPr anchor="t" rtlCol="false" tIns="0" lIns="0" bIns="0" rIns="0">
            <a:spAutoFit/>
          </a:bodyPr>
          <a:lstStyle/>
          <a:p>
            <a:pPr algn="l">
              <a:lnSpc>
                <a:spcPts val="3843"/>
              </a:lnSpc>
              <a:spcBef>
                <a:spcPct val="0"/>
              </a:spcBef>
            </a:pPr>
            <a:r>
              <a:rPr lang="en-US" sz="2745" spc="-216">
                <a:solidFill>
                  <a:srgbClr val="000000"/>
                </a:solidFill>
                <a:latin typeface="Garet"/>
                <a:ea typeface="Garet"/>
                <a:cs typeface="Garet"/>
                <a:sym typeface="Garet"/>
              </a:rPr>
              <a:t>Be</a:t>
            </a:r>
            <a:r>
              <a:rPr lang="en-US" sz="2745" spc="-216">
                <a:solidFill>
                  <a:srgbClr val="000000"/>
                </a:solidFill>
                <a:latin typeface="Garet"/>
                <a:ea typeface="Garet"/>
                <a:cs typeface="Garet"/>
                <a:sym typeface="Garet"/>
              </a:rPr>
              <a:t>rikut adalah spesifikasi tabel fakta utama yang menjadi inti dari analisis data.</a:t>
            </a:r>
          </a:p>
          <a:p>
            <a:pPr algn="l">
              <a:lnSpc>
                <a:spcPts val="3843"/>
              </a:lnSpc>
              <a:spcBef>
                <a:spcPct val="0"/>
              </a:spcBef>
            </a:pPr>
            <a:r>
              <a:rPr lang="en-US" sz="2745" spc="-216">
                <a:solidFill>
                  <a:srgbClr val="000000"/>
                </a:solidFill>
                <a:latin typeface="Garet"/>
                <a:ea typeface="Garet"/>
                <a:cs typeface="Garet"/>
                <a:sym typeface="Garet"/>
              </a:rPr>
              <a:t>A. Tabel Fact_Attendance</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Grain: Per Pegawai Per Hari</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Kunci Asing (FK): DateKey, EmployeeKey, UnitKey</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Metrik (Measures): DurasiKerja, MenitTerlambat, StatusKehadiran</a:t>
            </a:r>
          </a:p>
          <a:p>
            <a:pPr algn="l">
              <a:lnSpc>
                <a:spcPts val="3843"/>
              </a:lnSpc>
              <a:spcBef>
                <a:spcPct val="0"/>
              </a:spcBef>
            </a:pPr>
            <a:r>
              <a:rPr lang="en-US" sz="2745" spc="-216">
                <a:solidFill>
                  <a:srgbClr val="000000"/>
                </a:solidFill>
                <a:latin typeface="Garet"/>
                <a:ea typeface="Garet"/>
                <a:cs typeface="Garet"/>
                <a:sym typeface="Garet"/>
              </a:rPr>
              <a:t>B. Tabel Fact_</a:t>
            </a:r>
            <a:r>
              <a:rPr lang="en-US" sz="2745" spc="-216">
                <a:solidFill>
                  <a:srgbClr val="000000"/>
                </a:solidFill>
                <a:latin typeface="Garet"/>
                <a:ea typeface="Garet"/>
                <a:cs typeface="Garet"/>
                <a:sym typeface="Garet"/>
              </a:rPr>
              <a:t>Performance</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Gr</a:t>
            </a:r>
            <a:r>
              <a:rPr lang="en-US" sz="2745" spc="-216">
                <a:solidFill>
                  <a:srgbClr val="000000"/>
                </a:solidFill>
                <a:latin typeface="Garet"/>
                <a:ea typeface="Garet"/>
                <a:cs typeface="Garet"/>
                <a:sym typeface="Garet"/>
              </a:rPr>
              <a:t>ain: Per Pegawai Per Semester</a:t>
            </a:r>
          </a:p>
          <a:p>
            <a:pPr algn="l" marL="592689" indent="-296345" lvl="1">
              <a:lnSpc>
                <a:spcPts val="3843"/>
              </a:lnSpc>
              <a:spcBef>
                <a:spcPct val="0"/>
              </a:spcBef>
              <a:buFont typeface="Arial"/>
              <a:buChar char="•"/>
            </a:pPr>
            <a:r>
              <a:rPr lang="en-US" sz="2745" spc="-216">
                <a:solidFill>
                  <a:srgbClr val="000000"/>
                </a:solidFill>
                <a:latin typeface="Garet"/>
                <a:ea typeface="Garet"/>
                <a:cs typeface="Garet"/>
                <a:sym typeface="Garet"/>
              </a:rPr>
              <a:t>Kunci Asing (FK): DateKey, EmployeeKey, PositionKey</a:t>
            </a:r>
          </a:p>
          <a:p>
            <a:pPr algn="l" marL="592689" indent="-296345" lvl="1">
              <a:lnSpc>
                <a:spcPts val="3843"/>
              </a:lnSpc>
              <a:buFont typeface="Arial"/>
              <a:buChar char="•"/>
            </a:pPr>
            <a:r>
              <a:rPr lang="en-US" sz="2745" spc="-216">
                <a:solidFill>
                  <a:srgbClr val="000000"/>
                </a:solidFill>
                <a:latin typeface="Garet"/>
                <a:ea typeface="Garet"/>
                <a:cs typeface="Garet"/>
                <a:sym typeface="Garet"/>
              </a:rPr>
              <a:t>Metrik (Measures): Sko</a:t>
            </a:r>
            <a:r>
              <a:rPr lang="en-US" sz="2745" spc="-216">
                <a:solidFill>
                  <a:srgbClr val="000000"/>
                </a:solidFill>
                <a:latin typeface="Garet"/>
                <a:ea typeface="Garet"/>
                <a:cs typeface="Garet"/>
                <a:sym typeface="Garet"/>
              </a:rPr>
              <a:t>r_Akhir, Grade</a:t>
            </a:r>
          </a:p>
          <a:p>
            <a:pPr algn="l">
              <a:lnSpc>
                <a:spcPts val="3843"/>
              </a:lnSpc>
            </a:pPr>
            <a:r>
              <a:rPr lang="en-US" sz="2745" spc="-216">
                <a:solidFill>
                  <a:srgbClr val="000000"/>
                </a:solidFill>
                <a:latin typeface="Garet"/>
                <a:ea typeface="Garet"/>
                <a:cs typeface="Garet"/>
                <a:sym typeface="Garet"/>
              </a:rPr>
              <a:t>C. Tabel Fact_EmployeeSnapshot</a:t>
            </a:r>
          </a:p>
          <a:p>
            <a:pPr algn="l" marL="592689" indent="-296345" lvl="1">
              <a:lnSpc>
                <a:spcPts val="3843"/>
              </a:lnSpc>
              <a:buFont typeface="Arial"/>
              <a:buChar char="•"/>
            </a:pPr>
            <a:r>
              <a:rPr lang="en-US" sz="2745" spc="-216">
                <a:solidFill>
                  <a:srgbClr val="000000"/>
                </a:solidFill>
                <a:latin typeface="Garet"/>
                <a:ea typeface="Garet"/>
                <a:cs typeface="Garet"/>
                <a:sym typeface="Garet"/>
              </a:rPr>
              <a:t>Grain: Per Pegawai Per Bulan</a:t>
            </a:r>
          </a:p>
          <a:p>
            <a:pPr algn="l" marL="592689" indent="-296345" lvl="1">
              <a:lnSpc>
                <a:spcPts val="3843"/>
              </a:lnSpc>
              <a:buFont typeface="Arial"/>
              <a:buChar char="•"/>
            </a:pPr>
            <a:r>
              <a:rPr lang="en-US" sz="2745" spc="-216">
                <a:solidFill>
                  <a:srgbClr val="000000"/>
                </a:solidFill>
                <a:latin typeface="Garet"/>
                <a:ea typeface="Garet"/>
                <a:cs typeface="Garet"/>
                <a:sym typeface="Garet"/>
              </a:rPr>
              <a:t>Kunci Asing (FK): DateKey, RankKey, UnitKey</a:t>
            </a:r>
          </a:p>
          <a:p>
            <a:pPr algn="l" marL="592689" indent="-296345" lvl="1">
              <a:lnSpc>
                <a:spcPts val="3843"/>
              </a:lnSpc>
              <a:buFont typeface="Arial"/>
              <a:buChar char="•"/>
            </a:pPr>
            <a:r>
              <a:rPr lang="en-US" sz="2745" spc="-216">
                <a:solidFill>
                  <a:srgbClr val="000000"/>
                </a:solidFill>
                <a:latin typeface="Garet"/>
                <a:ea typeface="Garet"/>
                <a:cs typeface="Garet"/>
                <a:sym typeface="Garet"/>
              </a:rPr>
              <a:t>Metrik (Measures): GajiPokok, JumlahOrang (Headcount)</a:t>
            </a:r>
          </a:p>
          <a:p>
            <a:pPr algn="l">
              <a:lnSpc>
                <a:spcPts val="3843"/>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833932"/>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 PANDUAN OPERASIONAL</a:t>
            </a:r>
          </a:p>
        </p:txBody>
      </p:sp>
      <p:sp>
        <p:nvSpPr>
          <p:cNvPr name="Freeform 5" id="5"/>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2420037"/>
            <a:ext cx="13557165" cy="6292972"/>
          </a:xfrm>
          <a:prstGeom prst="rect">
            <a:avLst/>
          </a:prstGeom>
        </p:spPr>
        <p:txBody>
          <a:bodyPr anchor="t" rtlCol="false" tIns="0" lIns="0" bIns="0" rIns="0">
            <a:spAutoFit/>
          </a:bodyPr>
          <a:lstStyle/>
          <a:p>
            <a:pPr algn="l">
              <a:lnSpc>
                <a:spcPts val="3843"/>
              </a:lnSpc>
              <a:spcBef>
                <a:spcPct val="0"/>
              </a:spcBef>
            </a:pPr>
            <a:r>
              <a:rPr lang="en-US" sz="2745" spc="-216">
                <a:solidFill>
                  <a:srgbClr val="000000"/>
                </a:solidFill>
                <a:latin typeface="Garet"/>
                <a:ea typeface="Garet"/>
                <a:cs typeface="Garet"/>
                <a:sym typeface="Garet"/>
              </a:rPr>
              <a:t>Cara Menjalankan ETL (Manual Execution) Administrator database dapat memicu pembaruan data kapan saja melalui SQL Server Management Studio (SSMS) dengan menjalankan perintah: EXEC ETL_Master_Load;</a:t>
            </a:r>
          </a:p>
          <a:p>
            <a:pPr algn="l">
              <a:lnSpc>
                <a:spcPts val="3843"/>
              </a:lnSpc>
              <a:spcBef>
                <a:spcPct val="0"/>
              </a:spcBef>
            </a:pPr>
            <a:r>
              <a:rPr lang="en-US" sz="2745" spc="-216">
                <a:solidFill>
                  <a:srgbClr val="000000"/>
                </a:solidFill>
                <a:latin typeface="Garet"/>
                <a:ea typeface="Garet"/>
                <a:cs typeface="Garet"/>
                <a:sym typeface="Garet"/>
              </a:rPr>
              <a:t>Setelah dijalankan, administrator dapat memeriksa tab "Messages" untuk melihat log durasi proses dan jumlah baris yang terproses.</a:t>
            </a:r>
          </a:p>
          <a:p>
            <a:pPr algn="l">
              <a:lnSpc>
                <a:spcPts val="3843"/>
              </a:lnSpc>
            </a:pPr>
            <a:r>
              <a:rPr lang="en-US" sz="2745" spc="-216">
                <a:solidFill>
                  <a:srgbClr val="000000"/>
                </a:solidFill>
                <a:latin typeface="Garet"/>
                <a:ea typeface="Garet"/>
                <a:cs typeface="Garet"/>
                <a:sym typeface="Garet"/>
              </a:rPr>
              <a:t>Penjadwalan (Aut</a:t>
            </a:r>
            <a:r>
              <a:rPr lang="en-US" sz="2745" spc="-216">
                <a:solidFill>
                  <a:srgbClr val="000000"/>
                </a:solidFill>
                <a:latin typeface="Garet"/>
                <a:ea typeface="Garet"/>
                <a:cs typeface="Garet"/>
                <a:sym typeface="Garet"/>
              </a:rPr>
              <a:t>omat</a:t>
            </a:r>
            <a:r>
              <a:rPr lang="en-US" sz="2745" spc="-216">
                <a:solidFill>
                  <a:srgbClr val="000000"/>
                </a:solidFill>
                <a:latin typeface="Garet"/>
                <a:ea typeface="Garet"/>
                <a:cs typeface="Garet"/>
                <a:sym typeface="Garet"/>
              </a:rPr>
              <a:t>ion) Karena sistem menggunakan SQL Server Express/LocalDB (yang tidak memiliki SQL </a:t>
            </a:r>
            <a:r>
              <a:rPr lang="en-US" sz="2745" spc="-216">
                <a:solidFill>
                  <a:srgbClr val="000000"/>
                </a:solidFill>
                <a:latin typeface="Garet"/>
                <a:ea typeface="Garet"/>
                <a:cs typeface="Garet"/>
                <a:sym typeface="Garet"/>
              </a:rPr>
              <a:t>Agent), penjadwalan dilakukan melalui Windows Task Scheduler.</a:t>
            </a:r>
          </a:p>
          <a:p>
            <a:pPr algn="l" marL="592689" indent="-296345" lvl="1">
              <a:lnSpc>
                <a:spcPts val="3843"/>
              </a:lnSpc>
              <a:buFont typeface="Arial"/>
              <a:buChar char="•"/>
            </a:pPr>
            <a:r>
              <a:rPr lang="en-US" sz="2745" spc="-216">
                <a:solidFill>
                  <a:srgbClr val="000000"/>
                </a:solidFill>
                <a:latin typeface="Garet"/>
                <a:ea typeface="Garet"/>
                <a:cs typeface="Garet"/>
                <a:sym typeface="Garet"/>
              </a:rPr>
              <a:t>Action: Start Program</a:t>
            </a:r>
          </a:p>
          <a:p>
            <a:pPr algn="l" marL="592689" indent="-296345" lvl="1">
              <a:lnSpc>
                <a:spcPts val="3843"/>
              </a:lnSpc>
              <a:buFont typeface="Arial"/>
              <a:buChar char="•"/>
            </a:pPr>
            <a:r>
              <a:rPr lang="en-US" sz="2745" spc="-216">
                <a:solidFill>
                  <a:srgbClr val="000000"/>
                </a:solidFill>
                <a:latin typeface="Garet"/>
                <a:ea typeface="Garet"/>
                <a:cs typeface="Garet"/>
                <a:sym typeface="Garet"/>
              </a:rPr>
              <a:t>Program/Script: sqlcmd</a:t>
            </a:r>
          </a:p>
          <a:p>
            <a:pPr algn="l" marL="592689" indent="-296345" lvl="1">
              <a:lnSpc>
                <a:spcPts val="3843"/>
              </a:lnSpc>
              <a:buFont typeface="Arial"/>
              <a:buChar char="•"/>
            </a:pPr>
            <a:r>
              <a:rPr lang="en-US" sz="2745" spc="-216">
                <a:solidFill>
                  <a:srgbClr val="000000"/>
                </a:solidFill>
                <a:latin typeface="Garet"/>
                <a:ea typeface="Garet"/>
                <a:cs typeface="Garet"/>
                <a:sym typeface="Garet"/>
              </a:rPr>
              <a:t>Arguments: -S (localdb)\MSSQLLocalDB -d Kepegawaian_DB -Q "EXEC ETL_Master_Load"</a:t>
            </a:r>
          </a:p>
          <a:p>
            <a:pPr algn="l">
              <a:lnSpc>
                <a:spcPts val="3843"/>
              </a:lnSpc>
            </a:pPr>
          </a:p>
          <a:p>
            <a:pPr algn="l">
              <a:lnSpc>
                <a:spcPts val="3843"/>
              </a:lnSpc>
              <a:spcBef>
                <a:spcPct val="0"/>
              </a:spcBef>
            </a:pPr>
          </a:p>
        </p:txBody>
      </p:sp>
      <p:sp>
        <p:nvSpPr>
          <p:cNvPr name="TextBox 7" id="7"/>
          <p:cNvSpPr txBox="true"/>
          <p:nvPr/>
        </p:nvSpPr>
        <p:spPr>
          <a:xfrm rot="0">
            <a:off x="1028700" y="1415872"/>
            <a:ext cx="5575779" cy="322810"/>
          </a:xfrm>
          <a:prstGeom prst="rect">
            <a:avLst/>
          </a:prstGeom>
        </p:spPr>
        <p:txBody>
          <a:bodyPr anchor="t" rtlCol="false" tIns="0" lIns="0" bIns="0" rIns="0">
            <a:spAutoFit/>
          </a:bodyPr>
          <a:lstStyle/>
          <a:p>
            <a:pPr algn="l" marL="0" indent="0" lvl="0">
              <a:lnSpc>
                <a:spcPts val="2294"/>
              </a:lnSpc>
              <a:spcBef>
                <a:spcPct val="0"/>
              </a:spcBef>
            </a:pPr>
            <a:r>
              <a:rPr lang="en-US" sz="2941" spc="-232">
                <a:solidFill>
                  <a:srgbClr val="000000"/>
                </a:solidFill>
                <a:latin typeface="Archivo Black"/>
                <a:ea typeface="Archivo Black"/>
                <a:cs typeface="Archivo Black"/>
                <a:sym typeface="Archivo Black"/>
              </a:rPr>
              <a:t>07 Dokumen Teknis</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1438574"/>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648272" y="6126134"/>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648272" y="7989418"/>
            <a:ext cx="2611028" cy="1020674"/>
          </a:xfrm>
          <a:custGeom>
            <a:avLst/>
            <a:gdLst/>
            <a:ahLst/>
            <a:cxnLst/>
            <a:rect r="r" b="b" t="t" l="l"/>
            <a:pathLst>
              <a:path h="1020674" w="2611028">
                <a:moveTo>
                  <a:pt x="0" y="0"/>
                </a:moveTo>
                <a:lnTo>
                  <a:pt x="2611028" y="0"/>
                </a:lnTo>
                <a:lnTo>
                  <a:pt x="2611028" y="1020675"/>
                </a:lnTo>
                <a:lnTo>
                  <a:pt x="0" y="10206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08 Data Quality</a:t>
            </a:r>
          </a:p>
        </p:txBody>
      </p:sp>
      <p:sp>
        <p:nvSpPr>
          <p:cNvPr name="TextBox 7" id="7"/>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DATA QUALITY CHECK</a:t>
            </a:r>
          </a:p>
        </p:txBody>
      </p:sp>
      <p:sp>
        <p:nvSpPr>
          <p:cNvPr name="TextBox 8" id="8"/>
          <p:cNvSpPr txBox="true"/>
          <p:nvPr/>
        </p:nvSpPr>
        <p:spPr>
          <a:xfrm rot="0">
            <a:off x="490364" y="2051052"/>
            <a:ext cx="13598029" cy="44437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Apakah jumlah baris di Source sama dengan Target?</a:t>
            </a:r>
          </a:p>
          <a:p>
            <a:pPr algn="l">
              <a:lnSpc>
                <a:spcPts val="3919"/>
              </a:lnSpc>
              <a:spcBef>
                <a:spcPct val="0"/>
              </a:spcBef>
            </a:pPr>
            <a:r>
              <a:rPr lang="en-US" sz="2799" spc="-221">
                <a:solidFill>
                  <a:srgbClr val="000000"/>
                </a:solidFill>
                <a:latin typeface="Garet"/>
                <a:ea typeface="Garet"/>
                <a:cs typeface="Garet"/>
                <a:sym typeface="Garet"/>
              </a:rPr>
              <a:t>Apakah ada EmployeeKey yang -1 (Unknown)? </a:t>
            </a:r>
          </a:p>
          <a:p>
            <a:pPr algn="l">
              <a:lnSpc>
                <a:spcPts val="3919"/>
              </a:lnSpc>
              <a:spcBef>
                <a:spcPct val="0"/>
              </a:spcBef>
            </a:pPr>
            <a:r>
              <a:rPr lang="en-US" sz="2799" spc="-221">
                <a:solidFill>
                  <a:srgbClr val="000000"/>
                </a:solidFill>
                <a:latin typeface="Garet"/>
                <a:ea typeface="Garet"/>
                <a:cs typeface="Garet"/>
                <a:sym typeface="Garet"/>
              </a:rPr>
              <a:t>Jika ada, berarti NIP di transaksi tidak ada di Master Pegawai.</a:t>
            </a:r>
          </a:p>
          <a:p>
            <a:pPr algn="l">
              <a:lnSpc>
                <a:spcPts val="3919"/>
              </a:lnSpc>
              <a:spcBef>
                <a:spcPct val="0"/>
              </a:spcBef>
            </a:pPr>
            <a:r>
              <a:rPr lang="en-US" sz="2799" spc="-221">
                <a:solidFill>
                  <a:srgbClr val="000000"/>
                </a:solidFill>
                <a:latin typeface="Garet"/>
                <a:ea typeface="Garet"/>
                <a:cs typeface="Garet"/>
                <a:sym typeface="Garet"/>
              </a:rPr>
              <a:t>Validasi Perhitungan Measure Pastikan DurasiKerja masuk akal.</a:t>
            </a:r>
          </a:p>
          <a:p>
            <a:pPr algn="l">
              <a:lnSpc>
                <a:spcPts val="3919"/>
              </a:lnSpc>
              <a:spcBef>
                <a:spcPct val="0"/>
              </a:spcBef>
            </a:pPr>
          </a:p>
          <a:p>
            <a:pPr algn="l">
              <a:lnSpc>
                <a:spcPts val="3919"/>
              </a:lnSpc>
              <a:spcBef>
                <a:spcPct val="0"/>
              </a:spcBef>
            </a:pPr>
            <a:r>
              <a:rPr lang="en-US" sz="2799" spc="-221">
                <a:solidFill>
                  <a:srgbClr val="000000"/>
                </a:solidFill>
                <a:latin typeface="Garet"/>
                <a:ea typeface="Garet"/>
                <a:cs typeface="Garet"/>
                <a:sym typeface="Garet"/>
              </a:rPr>
              <a:t>TUJUAN PENGUJIAN </a:t>
            </a:r>
          </a:p>
          <a:p>
            <a:pPr algn="l">
              <a:lnSpc>
                <a:spcPts val="3919"/>
              </a:lnSpc>
              <a:spcBef>
                <a:spcPct val="0"/>
              </a:spcBef>
            </a:pPr>
            <a:r>
              <a:rPr lang="en-US" sz="2799" spc="-221">
                <a:solidFill>
                  <a:srgbClr val="000000"/>
                </a:solidFill>
                <a:latin typeface="Garet"/>
                <a:ea typeface="Garet"/>
                <a:cs typeface="Garet"/>
                <a:sym typeface="Garet"/>
              </a:rPr>
              <a:t>Pengujian ini bertujuan untuk memvalidasi integritas, kelengkapan, dan akurasi data setelah proses ETL (Extract, Transform, Load) dijalankan dari tabel sumber (TrAbsensi) menuju tabel target Data Warehouse (Fact_Attendance).</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512961" y="2151190"/>
            <a:ext cx="9947775" cy="74155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Berdas</a:t>
            </a:r>
            <a:r>
              <a:rPr lang="en-US" sz="2799" spc="-221">
                <a:solidFill>
                  <a:srgbClr val="000000"/>
                </a:solidFill>
                <a:latin typeface="Garet"/>
                <a:ea typeface="Garet"/>
                <a:cs typeface="Garet"/>
                <a:sym typeface="Garet"/>
              </a:rPr>
              <a:t>arkan eksekusi script validasi di SQL Server Management Studio (SSMS), berikut adalah rincian hasilnya:</a:t>
            </a:r>
          </a:p>
          <a:p>
            <a:pPr algn="l">
              <a:lnSpc>
                <a:spcPts val="3919"/>
              </a:lnSpc>
              <a:spcBef>
                <a:spcPct val="0"/>
              </a:spcBef>
            </a:pPr>
            <a:r>
              <a:rPr lang="en-US" sz="2799" spc="-221">
                <a:solidFill>
                  <a:srgbClr val="000000"/>
                </a:solidFill>
                <a:latin typeface="Garet"/>
                <a:ea typeface="Garet"/>
                <a:cs typeface="Garet"/>
                <a:sym typeface="Garet"/>
              </a:rPr>
              <a:t>A. Uji Kelengkapan Data (Completeness Check) Tujuan: Memastikan tidak ada data yang hilang (data loss) selama proses perpindahan dari Source ke Target. Metode: Membandingkan jumlah baris (Row Count) antara tabel sumber dan tabel fakta.</a:t>
            </a:r>
          </a:p>
          <a:p>
            <a:pPr algn="l">
              <a:lnSpc>
                <a:spcPts val="3919"/>
              </a:lnSpc>
              <a:spcBef>
                <a:spcPct val="0"/>
              </a:spcBef>
            </a:pPr>
            <a:r>
              <a:rPr lang="en-US" sz="2799" spc="-221">
                <a:solidFill>
                  <a:srgbClr val="000000"/>
                </a:solidFill>
                <a:latin typeface="Garet"/>
                <a:ea typeface="Garet"/>
                <a:cs typeface="Garet"/>
                <a:sym typeface="Garet"/>
              </a:rPr>
              <a:t>Hasil Eksekusi:</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Jumlah Baris Tabel Sumber (TrAbsensi): 20.000 Baris</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Jumlah Baris Tabel Target (Fact_Attendance): 20.000 Baris</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Selisih: 0</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Proses ETL berhasil memindahkan 100% data transaksi tanpa ada yang tertinggal (dropped rows).</a:t>
            </a:r>
          </a:p>
          <a:p>
            <a:pPr algn="l">
              <a:lnSpc>
                <a:spcPts val="3919"/>
              </a:lnSpc>
              <a:spcBef>
                <a:spcPct val="0"/>
              </a:spcBef>
            </a:pPr>
          </a:p>
        </p:txBody>
      </p:sp>
      <p:sp>
        <p:nvSpPr>
          <p:cNvPr name="Freeform 4" id="4"/>
          <p:cNvSpPr/>
          <p:nvPr/>
        </p:nvSpPr>
        <p:spPr>
          <a:xfrm flipH="false" flipV="false" rot="0">
            <a:off x="704318" y="2208340"/>
            <a:ext cx="6594689" cy="6801753"/>
          </a:xfrm>
          <a:custGeom>
            <a:avLst/>
            <a:gdLst/>
            <a:ahLst/>
            <a:cxnLst/>
            <a:rect r="r" b="b" t="t" l="l"/>
            <a:pathLst>
              <a:path h="6801753" w="6594689">
                <a:moveTo>
                  <a:pt x="0" y="0"/>
                </a:moveTo>
                <a:lnTo>
                  <a:pt x="6594689" y="0"/>
                </a:lnTo>
                <a:lnTo>
                  <a:pt x="6594689" y="6801753"/>
                </a:lnTo>
                <a:lnTo>
                  <a:pt x="0" y="6801753"/>
                </a:lnTo>
                <a:lnTo>
                  <a:pt x="0" y="0"/>
                </a:lnTo>
                <a:close/>
              </a:path>
            </a:pathLst>
          </a:custGeom>
          <a:blipFill>
            <a:blip r:embed="rId3"/>
            <a:stretch>
              <a:fillRect l="0" t="0" r="0" b="0"/>
            </a:stretch>
          </a:blipFill>
        </p:spPr>
      </p:sp>
      <p:sp>
        <p:nvSpPr>
          <p:cNvPr name="TextBox 5" id="5"/>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08 Data Quality</a:t>
            </a:r>
          </a:p>
        </p:txBody>
      </p:sp>
      <p:sp>
        <p:nvSpPr>
          <p:cNvPr name="TextBox 6" id="6"/>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 SKENARIO DAN HASIL PENGUJIAN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512961" y="2151190"/>
            <a:ext cx="9947775" cy="79108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Berdas</a:t>
            </a:r>
            <a:r>
              <a:rPr lang="en-US" sz="2799" spc="-221">
                <a:solidFill>
                  <a:srgbClr val="000000"/>
                </a:solidFill>
                <a:latin typeface="Garet"/>
                <a:ea typeface="Garet"/>
                <a:cs typeface="Garet"/>
                <a:sym typeface="Garet"/>
              </a:rPr>
              <a:t>arkan eksekusi script validasi di SQL Server Management Studio (SSMS), berikut adalah rincian hasilnya:</a:t>
            </a:r>
          </a:p>
          <a:p>
            <a:pPr algn="l">
              <a:lnSpc>
                <a:spcPts val="3919"/>
              </a:lnSpc>
              <a:spcBef>
                <a:spcPct val="0"/>
              </a:spcBef>
            </a:pPr>
            <a:r>
              <a:rPr lang="en-US" sz="2799" spc="-221">
                <a:solidFill>
                  <a:srgbClr val="000000"/>
                </a:solidFill>
                <a:latin typeface="Garet"/>
                <a:ea typeface="Garet"/>
                <a:cs typeface="Garet"/>
                <a:sym typeface="Garet"/>
              </a:rPr>
              <a:t>B. Uji Integritas Referensi (Referential Integrity Check) Tujuan: Memastikan semua data transaksi memiliki pemilik (Pegawai) yang valid dan terdaftar di tabel Dimensi. Metode: Mencari baris di tabel fakta yang memiliki EmployeeKey bernilai -1 (Key untuk Unknown Member). Query: SELECT * FROM Fact_Attendance WHERE EmployeeKey = -1</a:t>
            </a:r>
          </a:p>
          <a:p>
            <a:pPr algn="l">
              <a:lnSpc>
                <a:spcPts val="3919"/>
              </a:lnSpc>
              <a:spcBef>
                <a:spcPct val="0"/>
              </a:spcBef>
            </a:pPr>
            <a:r>
              <a:rPr lang="en-US" sz="2799" spc="-221">
                <a:solidFill>
                  <a:srgbClr val="000000"/>
                </a:solidFill>
                <a:latin typeface="Garet"/>
                <a:ea typeface="Garet"/>
                <a:cs typeface="Garet"/>
                <a:sym typeface="Garet"/>
              </a:rPr>
              <a:t>Hasil Eksekusi:</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Jumlah Baris Ditemukan: 0 (Nol).</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Tampilan Grid: Kosong (Tidak ada data yang muncul).</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Tidak ditemukan data "yatim" atau orphan records. Seluruh 20.000 data absensi berhasil dipetakan (Lookup) ke NIP pegawai yang valid di tabel Dimensi Pegawai.</a:t>
            </a:r>
          </a:p>
          <a:p>
            <a:pPr algn="l">
              <a:lnSpc>
                <a:spcPts val="3919"/>
              </a:lnSpc>
              <a:spcBef>
                <a:spcPct val="0"/>
              </a:spcBef>
            </a:pPr>
          </a:p>
        </p:txBody>
      </p:sp>
      <p:sp>
        <p:nvSpPr>
          <p:cNvPr name="Freeform 4" id="4"/>
          <p:cNvSpPr/>
          <p:nvPr/>
        </p:nvSpPr>
        <p:spPr>
          <a:xfrm flipH="false" flipV="false" rot="0">
            <a:off x="704318" y="2208340"/>
            <a:ext cx="6594689" cy="6801753"/>
          </a:xfrm>
          <a:custGeom>
            <a:avLst/>
            <a:gdLst/>
            <a:ahLst/>
            <a:cxnLst/>
            <a:rect r="r" b="b" t="t" l="l"/>
            <a:pathLst>
              <a:path h="6801753" w="6594689">
                <a:moveTo>
                  <a:pt x="0" y="0"/>
                </a:moveTo>
                <a:lnTo>
                  <a:pt x="6594689" y="0"/>
                </a:lnTo>
                <a:lnTo>
                  <a:pt x="6594689" y="6801753"/>
                </a:lnTo>
                <a:lnTo>
                  <a:pt x="0" y="6801753"/>
                </a:lnTo>
                <a:lnTo>
                  <a:pt x="0" y="0"/>
                </a:lnTo>
                <a:close/>
              </a:path>
            </a:pathLst>
          </a:custGeom>
          <a:blipFill>
            <a:blip r:embed="rId3"/>
            <a:stretch>
              <a:fillRect l="0" t="0" r="0" b="0"/>
            </a:stretch>
          </a:blipFill>
        </p:spPr>
      </p:sp>
      <p:sp>
        <p:nvSpPr>
          <p:cNvPr name="TextBox 5" id="5"/>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08 Data Quality</a:t>
            </a:r>
          </a:p>
        </p:txBody>
      </p:sp>
      <p:sp>
        <p:nvSpPr>
          <p:cNvPr name="TextBox 6" id="6"/>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 SKENARIO DAN HASIL PENGUJIAN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512961" y="2151190"/>
            <a:ext cx="9947775" cy="74155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Berdas</a:t>
            </a:r>
            <a:r>
              <a:rPr lang="en-US" sz="2799" spc="-221">
                <a:solidFill>
                  <a:srgbClr val="000000"/>
                </a:solidFill>
                <a:latin typeface="Garet"/>
                <a:ea typeface="Garet"/>
                <a:cs typeface="Garet"/>
                <a:sym typeface="Garet"/>
              </a:rPr>
              <a:t>arkan eksekusi script validasi di SQL Server Management Studio (SSMS), berikut adalah rincian hasilnya:</a:t>
            </a:r>
          </a:p>
          <a:p>
            <a:pPr algn="l">
              <a:lnSpc>
                <a:spcPts val="3919"/>
              </a:lnSpc>
              <a:spcBef>
                <a:spcPct val="0"/>
              </a:spcBef>
            </a:pPr>
            <a:r>
              <a:rPr lang="en-US" sz="2799" spc="-221">
                <a:solidFill>
                  <a:srgbClr val="000000"/>
                </a:solidFill>
                <a:latin typeface="Garet"/>
                <a:ea typeface="Garet"/>
                <a:cs typeface="Garet"/>
                <a:sym typeface="Garet"/>
              </a:rPr>
              <a:t>C. Validasi Logika Bisnis (Validity Check) Tujuan: Memastikan rumus transformasi kolom Measure (DurasiKerja) menghasilkan angka yang masuk akal. Metode: Mengambil sampel 5 data teratas dengan durasi kerja tertinggi.</a:t>
            </a:r>
          </a:p>
          <a:p>
            <a:pPr algn="l">
              <a:lnSpc>
                <a:spcPts val="3919"/>
              </a:lnSpc>
              <a:spcBef>
                <a:spcPct val="0"/>
              </a:spcBef>
            </a:pPr>
            <a:r>
              <a:rPr lang="en-US" sz="2799" spc="-221">
                <a:solidFill>
                  <a:srgbClr val="000000"/>
                </a:solidFill>
                <a:latin typeface="Garet"/>
                <a:ea typeface="Garet"/>
                <a:cs typeface="Garet"/>
                <a:sym typeface="Garet"/>
              </a:rPr>
              <a:t>Hasil Eksekusi:</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Sampel data menunjukkan angka durasi kerja: 9.00 jam.</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Nilai 9.00 adalah angka yang logis untuk jam kerja (misal: Masuk 08:00, Pulang 17:00 = 9 Jam). Tidak ditemukan anomali ekstrem (seperti durasi negatif atau durasi di atas 24 jam) pada sampel teratas. Kolom MenitTerlambat juga menunjukkan angka 0, yang konsisten dengan status kehadiran 'Hadir'.</a:t>
            </a:r>
          </a:p>
          <a:p>
            <a:pPr algn="l">
              <a:lnSpc>
                <a:spcPts val="3919"/>
              </a:lnSpc>
              <a:spcBef>
                <a:spcPct val="0"/>
              </a:spcBef>
            </a:pPr>
          </a:p>
        </p:txBody>
      </p:sp>
      <p:sp>
        <p:nvSpPr>
          <p:cNvPr name="Freeform 4" id="4"/>
          <p:cNvSpPr/>
          <p:nvPr/>
        </p:nvSpPr>
        <p:spPr>
          <a:xfrm flipH="false" flipV="false" rot="0">
            <a:off x="704318" y="2208340"/>
            <a:ext cx="6594689" cy="6801753"/>
          </a:xfrm>
          <a:custGeom>
            <a:avLst/>
            <a:gdLst/>
            <a:ahLst/>
            <a:cxnLst/>
            <a:rect r="r" b="b" t="t" l="l"/>
            <a:pathLst>
              <a:path h="6801753" w="6594689">
                <a:moveTo>
                  <a:pt x="0" y="0"/>
                </a:moveTo>
                <a:lnTo>
                  <a:pt x="6594689" y="0"/>
                </a:lnTo>
                <a:lnTo>
                  <a:pt x="6594689" y="6801753"/>
                </a:lnTo>
                <a:lnTo>
                  <a:pt x="0" y="6801753"/>
                </a:lnTo>
                <a:lnTo>
                  <a:pt x="0" y="0"/>
                </a:lnTo>
                <a:close/>
              </a:path>
            </a:pathLst>
          </a:custGeom>
          <a:blipFill>
            <a:blip r:embed="rId3"/>
            <a:stretch>
              <a:fillRect l="0" t="0" r="0" b="0"/>
            </a:stretch>
          </a:blipFill>
        </p:spPr>
      </p:sp>
      <p:sp>
        <p:nvSpPr>
          <p:cNvPr name="TextBox 5" id="5"/>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08 Data Quality</a:t>
            </a:r>
          </a:p>
        </p:txBody>
      </p:sp>
      <p:sp>
        <p:nvSpPr>
          <p:cNvPr name="TextBox 6" id="6"/>
          <p:cNvSpPr txBox="true"/>
          <p:nvPr/>
        </p:nvSpPr>
        <p:spPr>
          <a:xfrm rot="0">
            <a:off x="490364" y="1431593"/>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 SKENARIO DAN HASIL PENGUJIAN</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512961" y="1640038"/>
            <a:ext cx="9947775" cy="4443730"/>
          </a:xfrm>
          <a:prstGeom prst="rect">
            <a:avLst/>
          </a:prstGeom>
        </p:spPr>
        <p:txBody>
          <a:bodyPr anchor="t" rtlCol="false" tIns="0" lIns="0" bIns="0" rIns="0">
            <a:spAutoFit/>
          </a:bodyPr>
          <a:lstStyle/>
          <a:p>
            <a:pPr algn="l">
              <a:lnSpc>
                <a:spcPts val="3919"/>
              </a:lnSpc>
              <a:spcBef>
                <a:spcPct val="0"/>
              </a:spcBef>
            </a:pPr>
          </a:p>
          <a:p>
            <a:pPr algn="l">
              <a:lnSpc>
                <a:spcPts val="3919"/>
              </a:lnSpc>
              <a:spcBef>
                <a:spcPct val="0"/>
              </a:spcBef>
            </a:pPr>
            <a:r>
              <a:rPr lang="en-US" sz="2799" spc="-221">
                <a:solidFill>
                  <a:srgbClr val="000000"/>
                </a:solidFill>
                <a:latin typeface="Garet"/>
                <a:ea typeface="Garet"/>
                <a:cs typeface="Garet"/>
                <a:sym typeface="Garet"/>
              </a:rPr>
              <a:t>Berdasarkan ketiga parameter pengujian  (Kelengkapan, Integritas, dan Validitas), proses ETL untuk modul Absensi dinyatakan SUKSES. Data di dalam Data Warehouse (Fact_Attendance) dikategorikan BERSIH (Clean) dan VALID untuk digunakan dalam proses analisis dan visualisasi lebih lanjut.</a:t>
            </a:r>
          </a:p>
          <a:p>
            <a:pPr algn="l">
              <a:lnSpc>
                <a:spcPts val="3919"/>
              </a:lnSpc>
              <a:spcBef>
                <a:spcPct val="0"/>
              </a:spcBef>
            </a:pPr>
          </a:p>
          <a:p>
            <a:pPr algn="l">
              <a:lnSpc>
                <a:spcPts val="3919"/>
              </a:lnSpc>
              <a:spcBef>
                <a:spcPct val="0"/>
              </a:spcBef>
            </a:pPr>
          </a:p>
        </p:txBody>
      </p:sp>
      <p:sp>
        <p:nvSpPr>
          <p:cNvPr name="Freeform 4" id="4"/>
          <p:cNvSpPr/>
          <p:nvPr/>
        </p:nvSpPr>
        <p:spPr>
          <a:xfrm flipH="false" flipV="false" rot="0">
            <a:off x="704318" y="2208340"/>
            <a:ext cx="6594689" cy="6801753"/>
          </a:xfrm>
          <a:custGeom>
            <a:avLst/>
            <a:gdLst/>
            <a:ahLst/>
            <a:cxnLst/>
            <a:rect r="r" b="b" t="t" l="l"/>
            <a:pathLst>
              <a:path h="6801753" w="6594689">
                <a:moveTo>
                  <a:pt x="0" y="0"/>
                </a:moveTo>
                <a:lnTo>
                  <a:pt x="6594689" y="0"/>
                </a:lnTo>
                <a:lnTo>
                  <a:pt x="6594689" y="6801753"/>
                </a:lnTo>
                <a:lnTo>
                  <a:pt x="0" y="6801753"/>
                </a:lnTo>
                <a:lnTo>
                  <a:pt x="0" y="0"/>
                </a:lnTo>
                <a:close/>
              </a:path>
            </a:pathLst>
          </a:custGeom>
          <a:blipFill>
            <a:blip r:embed="rId3"/>
            <a:stretch>
              <a:fillRect l="0" t="0" r="0" b="0"/>
            </a:stretch>
          </a:blipFill>
        </p:spPr>
      </p:sp>
      <p:sp>
        <p:nvSpPr>
          <p:cNvPr name="TextBox 5" id="5"/>
          <p:cNvSpPr txBox="true"/>
          <p:nvPr/>
        </p:nvSpPr>
        <p:spPr>
          <a:xfrm rot="0">
            <a:off x="490364" y="877619"/>
            <a:ext cx="15433127" cy="411099"/>
          </a:xfrm>
          <a:prstGeom prst="rect">
            <a:avLst/>
          </a:prstGeom>
        </p:spPr>
        <p:txBody>
          <a:bodyPr anchor="t" rtlCol="false" tIns="0" lIns="0" bIns="0" rIns="0">
            <a:spAutoFit/>
          </a:bodyPr>
          <a:lstStyle/>
          <a:p>
            <a:pPr algn="l" marL="0" indent="0" lvl="0">
              <a:lnSpc>
                <a:spcPts val="2808"/>
              </a:lnSpc>
              <a:spcBef>
                <a:spcPct val="0"/>
              </a:spcBef>
            </a:pPr>
            <a:r>
              <a:rPr lang="en-US" sz="3600" spc="-284">
                <a:solidFill>
                  <a:srgbClr val="000000"/>
                </a:solidFill>
                <a:latin typeface="Archivo Black"/>
                <a:ea typeface="Archivo Black"/>
                <a:cs typeface="Archivo Black"/>
                <a:sym typeface="Archivo Black"/>
              </a:rPr>
              <a:t>08 Data Quality</a:t>
            </a:r>
          </a:p>
        </p:txBody>
      </p:sp>
      <p:sp>
        <p:nvSpPr>
          <p:cNvPr name="TextBox 6" id="6"/>
          <p:cNvSpPr txBox="true"/>
          <p:nvPr/>
        </p:nvSpPr>
        <p:spPr>
          <a:xfrm rot="0">
            <a:off x="490364" y="1581449"/>
            <a:ext cx="7022597" cy="374353"/>
          </a:xfrm>
          <a:prstGeom prst="rect">
            <a:avLst/>
          </a:prstGeom>
        </p:spPr>
        <p:txBody>
          <a:bodyPr anchor="t" rtlCol="false" tIns="0" lIns="0" bIns="0" rIns="0">
            <a:spAutoFit/>
          </a:bodyPr>
          <a:lstStyle/>
          <a:p>
            <a:pPr algn="l" marL="0" indent="0" lvl="0">
              <a:lnSpc>
                <a:spcPts val="2688"/>
              </a:lnSpc>
              <a:spcBef>
                <a:spcPct val="0"/>
              </a:spcBef>
            </a:pPr>
            <a:r>
              <a:rPr lang="en-US" sz="3446" spc="-272">
                <a:solidFill>
                  <a:srgbClr val="000000"/>
                </a:solidFill>
                <a:latin typeface="Garet"/>
                <a:ea typeface="Garet"/>
                <a:cs typeface="Garet"/>
                <a:sym typeface="Garet"/>
              </a:rPr>
              <a:t>KESIMPULAN AKHIR</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133475"/>
            <a:ext cx="5317645" cy="312099"/>
          </a:xfrm>
          <a:prstGeom prst="rect">
            <a:avLst/>
          </a:prstGeom>
        </p:spPr>
        <p:txBody>
          <a:bodyPr anchor="t" rtlCol="false" tIns="0" lIns="0" bIns="0" rIns="0">
            <a:spAutoFit/>
          </a:bodyPr>
          <a:lstStyle/>
          <a:p>
            <a:pPr algn="l" marL="0" indent="0" lvl="0">
              <a:lnSpc>
                <a:spcPts val="2188"/>
              </a:lnSpc>
              <a:spcBef>
                <a:spcPct val="0"/>
              </a:spcBef>
            </a:pPr>
            <a:r>
              <a:rPr lang="en-US" sz="2805" spc="-221">
                <a:solidFill>
                  <a:srgbClr val="000000"/>
                </a:solidFill>
                <a:latin typeface="Archivo Black"/>
                <a:ea typeface="Archivo Black"/>
                <a:cs typeface="Archivo Black"/>
                <a:sym typeface="Archivo Black"/>
              </a:rPr>
              <a:t>09 Performance Test</a:t>
            </a:r>
          </a:p>
        </p:txBody>
      </p:sp>
      <p:sp>
        <p:nvSpPr>
          <p:cNvPr name="TextBox 5" id="5"/>
          <p:cNvSpPr txBox="true"/>
          <p:nvPr/>
        </p:nvSpPr>
        <p:spPr>
          <a:xfrm rot="0">
            <a:off x="1028700" y="1675918"/>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TUJUAN PENGUJIAN</a:t>
            </a:r>
          </a:p>
        </p:txBody>
      </p:sp>
      <p:sp>
        <p:nvSpPr>
          <p:cNvPr name="Freeform 6" id="6"/>
          <p:cNvSpPr/>
          <p:nvPr/>
        </p:nvSpPr>
        <p:spPr>
          <a:xfrm flipH="false" flipV="false" rot="0">
            <a:off x="1028700" y="7551854"/>
            <a:ext cx="3118091" cy="1706446"/>
          </a:xfrm>
          <a:custGeom>
            <a:avLst/>
            <a:gdLst/>
            <a:ahLst/>
            <a:cxnLst/>
            <a:rect r="r" b="b" t="t" l="l"/>
            <a:pathLst>
              <a:path h="1706446" w="3118091">
                <a:moveTo>
                  <a:pt x="0" y="0"/>
                </a:moveTo>
                <a:lnTo>
                  <a:pt x="3118091" y="0"/>
                </a:lnTo>
                <a:lnTo>
                  <a:pt x="3118091"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283086" y="7551854"/>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2385848"/>
            <a:ext cx="10073070" cy="19672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Pengujian ini bertujuan untuk memvalidasi integritas, kelengkapan, dan akurasi data setelah proses ETL (Extract, Transform, Load) dijalankan dari tabel sumber (TrAbsensi) menuju tabel target Data Warehouse (Fact_Attendance).</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76728"/>
            <a:ext cx="7569163" cy="6539296"/>
          </a:xfrm>
          <a:custGeom>
            <a:avLst/>
            <a:gdLst/>
            <a:ahLst/>
            <a:cxnLst/>
            <a:rect r="r" b="b" t="t" l="l"/>
            <a:pathLst>
              <a:path h="6539296" w="7569163">
                <a:moveTo>
                  <a:pt x="0" y="0"/>
                </a:moveTo>
                <a:lnTo>
                  <a:pt x="7569163" y="0"/>
                </a:lnTo>
                <a:lnTo>
                  <a:pt x="7569163" y="6539296"/>
                </a:lnTo>
                <a:lnTo>
                  <a:pt x="0" y="6539296"/>
                </a:lnTo>
                <a:lnTo>
                  <a:pt x="0" y="0"/>
                </a:lnTo>
                <a:close/>
              </a:path>
            </a:pathLst>
          </a:custGeom>
          <a:blipFill>
            <a:blip r:embed="rId5"/>
            <a:stretch>
              <a:fillRect l="0" t="0" r="0" b="0"/>
            </a:stretch>
          </a:blipFill>
        </p:spPr>
      </p:sp>
      <p:sp>
        <p:nvSpPr>
          <p:cNvPr name="TextBox 5" id="5"/>
          <p:cNvSpPr txBox="true"/>
          <p:nvPr/>
        </p:nvSpPr>
        <p:spPr>
          <a:xfrm rot="0">
            <a:off x="1028700" y="1133475"/>
            <a:ext cx="5317645" cy="312099"/>
          </a:xfrm>
          <a:prstGeom prst="rect">
            <a:avLst/>
          </a:prstGeom>
        </p:spPr>
        <p:txBody>
          <a:bodyPr anchor="t" rtlCol="false" tIns="0" lIns="0" bIns="0" rIns="0">
            <a:spAutoFit/>
          </a:bodyPr>
          <a:lstStyle/>
          <a:p>
            <a:pPr algn="l" marL="0" indent="0" lvl="0">
              <a:lnSpc>
                <a:spcPts val="2188"/>
              </a:lnSpc>
              <a:spcBef>
                <a:spcPct val="0"/>
              </a:spcBef>
            </a:pPr>
            <a:r>
              <a:rPr lang="en-US" sz="2805" spc="-221">
                <a:solidFill>
                  <a:srgbClr val="000000"/>
                </a:solidFill>
                <a:latin typeface="Archivo Black"/>
                <a:ea typeface="Archivo Black"/>
                <a:cs typeface="Archivo Black"/>
                <a:sym typeface="Archivo Black"/>
              </a:rPr>
              <a:t>09 Performance Test</a:t>
            </a:r>
          </a:p>
        </p:txBody>
      </p:sp>
      <p:sp>
        <p:nvSpPr>
          <p:cNvPr name="TextBox 6" id="6"/>
          <p:cNvSpPr txBox="true"/>
          <p:nvPr/>
        </p:nvSpPr>
        <p:spPr>
          <a:xfrm rot="0">
            <a:off x="1028700" y="1675918"/>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SKENARIO DAN HASIL PENGUJIAN</a:t>
            </a:r>
          </a:p>
        </p:txBody>
      </p:sp>
      <p:sp>
        <p:nvSpPr>
          <p:cNvPr name="TextBox 7" id="7"/>
          <p:cNvSpPr txBox="true"/>
          <p:nvPr/>
        </p:nvSpPr>
        <p:spPr>
          <a:xfrm rot="0">
            <a:off x="1028700" y="2100098"/>
            <a:ext cx="12420193" cy="9766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a:t>
            </a:r>
            <a:r>
              <a:rPr lang="en-US" sz="2799" spc="-221">
                <a:solidFill>
                  <a:srgbClr val="000000"/>
                </a:solidFill>
                <a:latin typeface="Garet"/>
                <a:ea typeface="Garet"/>
                <a:cs typeface="Garet"/>
                <a:sym typeface="Garet"/>
              </a:rPr>
              <a:t>erdasarkan eksekusi script validasi di SQL Server Management Studio (SSMS), berikut adalah rincian hasilnya:</a:t>
            </a:r>
          </a:p>
        </p:txBody>
      </p:sp>
      <p:sp>
        <p:nvSpPr>
          <p:cNvPr name="TextBox 8" id="8"/>
          <p:cNvSpPr txBox="true"/>
          <p:nvPr/>
        </p:nvSpPr>
        <p:spPr>
          <a:xfrm rot="0">
            <a:off x="8826056" y="3105336"/>
            <a:ext cx="9690137" cy="64249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A. Uji Kelengkapan Data (Completeness Check) Tujuan: Memastikan tidak ada data yang hilang (data loss) selama proses perpindahan dari Source ke Target. Metode: Membandingkan jumlah baris (Row Count) antara tabel sumber dan tabel fakta.</a:t>
            </a:r>
          </a:p>
          <a:p>
            <a:pPr algn="l">
              <a:lnSpc>
                <a:spcPts val="3919"/>
              </a:lnSpc>
              <a:spcBef>
                <a:spcPct val="0"/>
              </a:spcBef>
            </a:pPr>
            <a:r>
              <a:rPr lang="en-US" sz="2799" spc="-221">
                <a:solidFill>
                  <a:srgbClr val="000000"/>
                </a:solidFill>
                <a:latin typeface="Garet"/>
                <a:ea typeface="Garet"/>
                <a:cs typeface="Garet"/>
                <a:sym typeface="Garet"/>
              </a:rPr>
              <a:t>Hasil Eksekusi:</a:t>
            </a:r>
          </a:p>
          <a:p>
            <a:pPr algn="l">
              <a:lnSpc>
                <a:spcPts val="3919"/>
              </a:lnSpc>
              <a:spcBef>
                <a:spcPct val="0"/>
              </a:spcBef>
            </a:pPr>
            <a:r>
              <a:rPr lang="en-US" sz="2799" spc="-221">
                <a:solidFill>
                  <a:srgbClr val="000000"/>
                </a:solidFill>
                <a:latin typeface="Garet"/>
                <a:ea typeface="Garet"/>
                <a:cs typeface="Garet"/>
                <a:sym typeface="Garet"/>
              </a:rPr>
              <a:t>Jumlah Baris Tabel Sumber (TrAbsensi): 20.000 Baris</a:t>
            </a:r>
          </a:p>
          <a:p>
            <a:pPr algn="l">
              <a:lnSpc>
                <a:spcPts val="3919"/>
              </a:lnSpc>
              <a:spcBef>
                <a:spcPct val="0"/>
              </a:spcBef>
            </a:pPr>
            <a:r>
              <a:rPr lang="en-US" sz="2799" spc="-221">
                <a:solidFill>
                  <a:srgbClr val="000000"/>
                </a:solidFill>
                <a:latin typeface="Garet"/>
                <a:ea typeface="Garet"/>
                <a:cs typeface="Garet"/>
                <a:sym typeface="Garet"/>
              </a:rPr>
              <a:t>Jumlah Baris Tabel Target (Fact_Attendance): 20.000 Baris</a:t>
            </a:r>
          </a:p>
          <a:p>
            <a:pPr algn="l">
              <a:lnSpc>
                <a:spcPts val="3919"/>
              </a:lnSpc>
              <a:spcBef>
                <a:spcPct val="0"/>
              </a:spcBef>
            </a:pPr>
            <a:r>
              <a:rPr lang="en-US" sz="2799" spc="-221">
                <a:solidFill>
                  <a:srgbClr val="000000"/>
                </a:solidFill>
                <a:latin typeface="Garet"/>
                <a:ea typeface="Garet"/>
                <a:cs typeface="Garet"/>
                <a:sym typeface="Garet"/>
              </a:rPr>
              <a:t>Selisih: 0</a:t>
            </a:r>
          </a:p>
          <a:p>
            <a:pPr algn="l">
              <a:lnSpc>
                <a:spcPts val="3919"/>
              </a:lnSpc>
              <a:spcBef>
                <a:spcPct val="0"/>
              </a:spcBef>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Proses ETL berhasil memindahkan 100% data transaksi tanpa ada yang tertinggal (dropped rows).</a:t>
            </a:r>
          </a:p>
          <a:p>
            <a:pPr algn="l">
              <a:lnSpc>
                <a:spcPts val="3919"/>
              </a:lnSpc>
              <a:spcBef>
                <a:spcPct val="0"/>
              </a:spcBef>
            </a:pP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76728"/>
            <a:ext cx="7569163" cy="6539296"/>
          </a:xfrm>
          <a:custGeom>
            <a:avLst/>
            <a:gdLst/>
            <a:ahLst/>
            <a:cxnLst/>
            <a:rect r="r" b="b" t="t" l="l"/>
            <a:pathLst>
              <a:path h="6539296" w="7569163">
                <a:moveTo>
                  <a:pt x="0" y="0"/>
                </a:moveTo>
                <a:lnTo>
                  <a:pt x="7569163" y="0"/>
                </a:lnTo>
                <a:lnTo>
                  <a:pt x="7569163" y="6539296"/>
                </a:lnTo>
                <a:lnTo>
                  <a:pt x="0" y="6539296"/>
                </a:lnTo>
                <a:lnTo>
                  <a:pt x="0" y="0"/>
                </a:lnTo>
                <a:close/>
              </a:path>
            </a:pathLst>
          </a:custGeom>
          <a:blipFill>
            <a:blip r:embed="rId5"/>
            <a:stretch>
              <a:fillRect l="0" t="0" r="0" b="0"/>
            </a:stretch>
          </a:blipFill>
        </p:spPr>
      </p:sp>
      <p:sp>
        <p:nvSpPr>
          <p:cNvPr name="TextBox 5" id="5"/>
          <p:cNvSpPr txBox="true"/>
          <p:nvPr/>
        </p:nvSpPr>
        <p:spPr>
          <a:xfrm rot="0">
            <a:off x="1028700" y="1133475"/>
            <a:ext cx="5317645" cy="312099"/>
          </a:xfrm>
          <a:prstGeom prst="rect">
            <a:avLst/>
          </a:prstGeom>
        </p:spPr>
        <p:txBody>
          <a:bodyPr anchor="t" rtlCol="false" tIns="0" lIns="0" bIns="0" rIns="0">
            <a:spAutoFit/>
          </a:bodyPr>
          <a:lstStyle/>
          <a:p>
            <a:pPr algn="l" marL="0" indent="0" lvl="0">
              <a:lnSpc>
                <a:spcPts val="2188"/>
              </a:lnSpc>
              <a:spcBef>
                <a:spcPct val="0"/>
              </a:spcBef>
            </a:pPr>
            <a:r>
              <a:rPr lang="en-US" sz="2805" spc="-221">
                <a:solidFill>
                  <a:srgbClr val="000000"/>
                </a:solidFill>
                <a:latin typeface="Archivo Black"/>
                <a:ea typeface="Archivo Black"/>
                <a:cs typeface="Archivo Black"/>
                <a:sym typeface="Archivo Black"/>
              </a:rPr>
              <a:t>09 Performance Test</a:t>
            </a:r>
          </a:p>
        </p:txBody>
      </p:sp>
      <p:sp>
        <p:nvSpPr>
          <p:cNvPr name="TextBox 6" id="6"/>
          <p:cNvSpPr txBox="true"/>
          <p:nvPr/>
        </p:nvSpPr>
        <p:spPr>
          <a:xfrm rot="0">
            <a:off x="1028700" y="1675918"/>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SKENARIO DAN HASIL PENGUJIAN</a:t>
            </a:r>
          </a:p>
        </p:txBody>
      </p:sp>
      <p:sp>
        <p:nvSpPr>
          <p:cNvPr name="TextBox 7" id="7"/>
          <p:cNvSpPr txBox="true"/>
          <p:nvPr/>
        </p:nvSpPr>
        <p:spPr>
          <a:xfrm rot="0">
            <a:off x="1028700" y="2100098"/>
            <a:ext cx="12420193" cy="9766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a:t>
            </a:r>
            <a:r>
              <a:rPr lang="en-US" sz="2799" spc="-221">
                <a:solidFill>
                  <a:srgbClr val="000000"/>
                </a:solidFill>
                <a:latin typeface="Garet"/>
                <a:ea typeface="Garet"/>
                <a:cs typeface="Garet"/>
                <a:sym typeface="Garet"/>
              </a:rPr>
              <a:t>erdasarkan eksekusi script validasi di SQL Server Management Studio (SSMS), berikut adalah rincian hasilnya:</a:t>
            </a:r>
          </a:p>
        </p:txBody>
      </p:sp>
      <p:sp>
        <p:nvSpPr>
          <p:cNvPr name="TextBox 8" id="8"/>
          <p:cNvSpPr txBox="true"/>
          <p:nvPr/>
        </p:nvSpPr>
        <p:spPr>
          <a:xfrm rot="0">
            <a:off x="8826056" y="3105336"/>
            <a:ext cx="9690137" cy="69202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a:t>
            </a:r>
            <a:r>
              <a:rPr lang="en-US" sz="2799" spc="-221">
                <a:solidFill>
                  <a:srgbClr val="000000"/>
                </a:solidFill>
                <a:latin typeface="Garet"/>
                <a:ea typeface="Garet"/>
                <a:cs typeface="Garet"/>
                <a:sym typeface="Garet"/>
              </a:rPr>
              <a:t>. Uji Integritas Referensi (Referential Integrity Check) Tujuan: Memastikan semua data transaksi memiliki pemilik (Pegawai) yang valid dan terdaftar di tabel Dimensi. Metode: Mencari baris di tabel fakta yang memiliki EmployeeKey bernilai -1 (Key untuk Unknown Member). Query: SELECT * FROM Fact_Attendance WHERE EmployeeKey = -1</a:t>
            </a:r>
          </a:p>
          <a:p>
            <a:pPr algn="l">
              <a:lnSpc>
                <a:spcPts val="3919"/>
              </a:lnSpc>
              <a:spcBef>
                <a:spcPct val="0"/>
              </a:spcBef>
            </a:pPr>
            <a:r>
              <a:rPr lang="en-US" sz="2799" spc="-221">
                <a:solidFill>
                  <a:srgbClr val="000000"/>
                </a:solidFill>
                <a:latin typeface="Garet"/>
                <a:ea typeface="Garet"/>
                <a:cs typeface="Garet"/>
                <a:sym typeface="Garet"/>
              </a:rPr>
              <a:t>Hasil Eksekusi:</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Jumlah Baris Ditemukan: 0 (Nol).</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Tampilan Grid: Kosong (Tidak ada data yang muncul).</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Tidak ditemukan data "yatim" atau orphan records. Seluruh 20.000 data absensi berhasil dipetakan (Lookup) ke NIP pegawai yang valid di tabel Dimensi Pegawai.</a:t>
            </a:r>
          </a:p>
          <a:p>
            <a:pPr algn="l">
              <a:lnSpc>
                <a:spcPts val="3919"/>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76728"/>
            <a:ext cx="7569163" cy="6539296"/>
          </a:xfrm>
          <a:custGeom>
            <a:avLst/>
            <a:gdLst/>
            <a:ahLst/>
            <a:cxnLst/>
            <a:rect r="r" b="b" t="t" l="l"/>
            <a:pathLst>
              <a:path h="6539296" w="7569163">
                <a:moveTo>
                  <a:pt x="0" y="0"/>
                </a:moveTo>
                <a:lnTo>
                  <a:pt x="7569163" y="0"/>
                </a:lnTo>
                <a:lnTo>
                  <a:pt x="7569163" y="6539296"/>
                </a:lnTo>
                <a:lnTo>
                  <a:pt x="0" y="6539296"/>
                </a:lnTo>
                <a:lnTo>
                  <a:pt x="0" y="0"/>
                </a:lnTo>
                <a:close/>
              </a:path>
            </a:pathLst>
          </a:custGeom>
          <a:blipFill>
            <a:blip r:embed="rId5"/>
            <a:stretch>
              <a:fillRect l="0" t="0" r="0" b="0"/>
            </a:stretch>
          </a:blipFill>
        </p:spPr>
      </p:sp>
      <p:sp>
        <p:nvSpPr>
          <p:cNvPr name="TextBox 5" id="5"/>
          <p:cNvSpPr txBox="true"/>
          <p:nvPr/>
        </p:nvSpPr>
        <p:spPr>
          <a:xfrm rot="0">
            <a:off x="1028700" y="1133475"/>
            <a:ext cx="5317645" cy="312099"/>
          </a:xfrm>
          <a:prstGeom prst="rect">
            <a:avLst/>
          </a:prstGeom>
        </p:spPr>
        <p:txBody>
          <a:bodyPr anchor="t" rtlCol="false" tIns="0" lIns="0" bIns="0" rIns="0">
            <a:spAutoFit/>
          </a:bodyPr>
          <a:lstStyle/>
          <a:p>
            <a:pPr algn="l" marL="0" indent="0" lvl="0">
              <a:lnSpc>
                <a:spcPts val="2188"/>
              </a:lnSpc>
              <a:spcBef>
                <a:spcPct val="0"/>
              </a:spcBef>
            </a:pPr>
            <a:r>
              <a:rPr lang="en-US" sz="2805" spc="-221">
                <a:solidFill>
                  <a:srgbClr val="000000"/>
                </a:solidFill>
                <a:latin typeface="Archivo Black"/>
                <a:ea typeface="Archivo Black"/>
                <a:cs typeface="Archivo Black"/>
                <a:sym typeface="Archivo Black"/>
              </a:rPr>
              <a:t>09 Performance Test</a:t>
            </a:r>
          </a:p>
        </p:txBody>
      </p:sp>
      <p:sp>
        <p:nvSpPr>
          <p:cNvPr name="TextBox 6" id="6"/>
          <p:cNvSpPr txBox="true"/>
          <p:nvPr/>
        </p:nvSpPr>
        <p:spPr>
          <a:xfrm rot="0">
            <a:off x="1028700" y="1675918"/>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SKENARIO DAN HASIL PENGUJIAN</a:t>
            </a:r>
          </a:p>
        </p:txBody>
      </p:sp>
      <p:sp>
        <p:nvSpPr>
          <p:cNvPr name="TextBox 7" id="7"/>
          <p:cNvSpPr txBox="true"/>
          <p:nvPr/>
        </p:nvSpPr>
        <p:spPr>
          <a:xfrm rot="0">
            <a:off x="1028700" y="2100098"/>
            <a:ext cx="12420193" cy="9766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a:t>
            </a:r>
            <a:r>
              <a:rPr lang="en-US" sz="2799" spc="-221">
                <a:solidFill>
                  <a:srgbClr val="000000"/>
                </a:solidFill>
                <a:latin typeface="Garet"/>
                <a:ea typeface="Garet"/>
                <a:cs typeface="Garet"/>
                <a:sym typeface="Garet"/>
              </a:rPr>
              <a:t>erdasarkan eksekusi script validasi di SQL Server Management Studio (SSMS), berikut adalah rincian hasilnya:</a:t>
            </a:r>
          </a:p>
        </p:txBody>
      </p:sp>
      <p:sp>
        <p:nvSpPr>
          <p:cNvPr name="TextBox 8" id="8"/>
          <p:cNvSpPr txBox="true"/>
          <p:nvPr/>
        </p:nvSpPr>
        <p:spPr>
          <a:xfrm rot="0">
            <a:off x="8826056" y="3105336"/>
            <a:ext cx="9690137" cy="69202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C</a:t>
            </a:r>
            <a:r>
              <a:rPr lang="en-US" sz="2799" spc="-221">
                <a:solidFill>
                  <a:srgbClr val="000000"/>
                </a:solidFill>
                <a:latin typeface="Garet"/>
                <a:ea typeface="Garet"/>
                <a:cs typeface="Garet"/>
                <a:sym typeface="Garet"/>
              </a:rPr>
              <a:t>. Validasi Logika Bisnis (Validity Check) Tujuan: Memastikan rumus transformasi kolom Measure (DurasiKerja) menghasilkan angka yang masuk akal. Metode: Mengambil sampel 5 data teratas dengan durasi kerja tertinggi.</a:t>
            </a:r>
          </a:p>
          <a:p>
            <a:pPr algn="l">
              <a:lnSpc>
                <a:spcPts val="3919"/>
              </a:lnSpc>
              <a:spcBef>
                <a:spcPct val="0"/>
              </a:spcBef>
            </a:pPr>
            <a:r>
              <a:rPr lang="en-US" sz="2799" spc="-221">
                <a:solidFill>
                  <a:srgbClr val="000000"/>
                </a:solidFill>
                <a:latin typeface="Garet"/>
                <a:ea typeface="Garet"/>
                <a:cs typeface="Garet"/>
                <a:sym typeface="Garet"/>
              </a:rPr>
              <a:t>Hasil Eksekusi:</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Sampel data menunjukkan angka durasi kerja: 9.00 jam.</a:t>
            </a:r>
          </a:p>
          <a:p>
            <a:pPr algn="l" marL="604519" indent="-302260" lvl="1">
              <a:lnSpc>
                <a:spcPts val="3919"/>
              </a:lnSpc>
              <a:spcBef>
                <a:spcPct val="0"/>
              </a:spcBef>
              <a:buFont typeface="Arial"/>
              <a:buChar char="•"/>
            </a:pPr>
            <a:r>
              <a:rPr lang="en-US" sz="2799" spc="-221">
                <a:solidFill>
                  <a:srgbClr val="000000"/>
                </a:solidFill>
                <a:latin typeface="Garet"/>
                <a:ea typeface="Garet"/>
                <a:cs typeface="Garet"/>
                <a:sym typeface="Garet"/>
              </a:rPr>
              <a:t>Status: BERHASIL (PASSED)</a:t>
            </a:r>
          </a:p>
          <a:p>
            <a:pPr algn="l">
              <a:lnSpc>
                <a:spcPts val="3919"/>
              </a:lnSpc>
              <a:spcBef>
                <a:spcPct val="0"/>
              </a:spcBef>
            </a:pPr>
            <a:r>
              <a:rPr lang="en-US" sz="2799" spc="-221">
                <a:solidFill>
                  <a:srgbClr val="000000"/>
                </a:solidFill>
                <a:latin typeface="Garet"/>
                <a:ea typeface="Garet"/>
                <a:cs typeface="Garet"/>
                <a:sym typeface="Garet"/>
              </a:rPr>
              <a:t>Analisis: Nilai 9.00 adalah angka yang logis untuk jam kerja (misal: Masuk 08:00, Pulang 17:00 = 9 Jam). Tidak ditemukan anomali ekstrem (seperti durasi negatif atau durasi di atas 24 jam) pada sampel teratas. Kolom MenitTerlambat juga menunjukkan angka 0, yang konsisten dengan status kehadiran 'Hadir'.</a:t>
            </a:r>
          </a:p>
          <a:p>
            <a:pPr algn="l">
              <a:lnSpc>
                <a:spcPts val="3919"/>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283086" y="450802"/>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3076728"/>
            <a:ext cx="7569163" cy="6539296"/>
          </a:xfrm>
          <a:custGeom>
            <a:avLst/>
            <a:gdLst/>
            <a:ahLst/>
            <a:cxnLst/>
            <a:rect r="r" b="b" t="t" l="l"/>
            <a:pathLst>
              <a:path h="6539296" w="7569163">
                <a:moveTo>
                  <a:pt x="0" y="0"/>
                </a:moveTo>
                <a:lnTo>
                  <a:pt x="7569163" y="0"/>
                </a:lnTo>
                <a:lnTo>
                  <a:pt x="7569163" y="6539296"/>
                </a:lnTo>
                <a:lnTo>
                  <a:pt x="0" y="6539296"/>
                </a:lnTo>
                <a:lnTo>
                  <a:pt x="0" y="0"/>
                </a:lnTo>
                <a:close/>
              </a:path>
            </a:pathLst>
          </a:custGeom>
          <a:blipFill>
            <a:blip r:embed="rId5"/>
            <a:stretch>
              <a:fillRect l="0" t="0" r="0" b="0"/>
            </a:stretch>
          </a:blipFill>
        </p:spPr>
      </p:sp>
      <p:sp>
        <p:nvSpPr>
          <p:cNvPr name="TextBox 5" id="5"/>
          <p:cNvSpPr txBox="true"/>
          <p:nvPr/>
        </p:nvSpPr>
        <p:spPr>
          <a:xfrm rot="0">
            <a:off x="1028700" y="1133475"/>
            <a:ext cx="5317645" cy="312099"/>
          </a:xfrm>
          <a:prstGeom prst="rect">
            <a:avLst/>
          </a:prstGeom>
        </p:spPr>
        <p:txBody>
          <a:bodyPr anchor="t" rtlCol="false" tIns="0" lIns="0" bIns="0" rIns="0">
            <a:spAutoFit/>
          </a:bodyPr>
          <a:lstStyle/>
          <a:p>
            <a:pPr algn="l" marL="0" indent="0" lvl="0">
              <a:lnSpc>
                <a:spcPts val="2188"/>
              </a:lnSpc>
              <a:spcBef>
                <a:spcPct val="0"/>
              </a:spcBef>
            </a:pPr>
            <a:r>
              <a:rPr lang="en-US" sz="2805" spc="-221">
                <a:solidFill>
                  <a:srgbClr val="000000"/>
                </a:solidFill>
                <a:latin typeface="Archivo Black"/>
                <a:ea typeface="Archivo Black"/>
                <a:cs typeface="Archivo Black"/>
                <a:sym typeface="Archivo Black"/>
              </a:rPr>
              <a:t>09 Performance Test</a:t>
            </a:r>
          </a:p>
        </p:txBody>
      </p:sp>
      <p:sp>
        <p:nvSpPr>
          <p:cNvPr name="TextBox 6" id="6"/>
          <p:cNvSpPr txBox="true"/>
          <p:nvPr/>
        </p:nvSpPr>
        <p:spPr>
          <a:xfrm rot="0">
            <a:off x="1028700" y="1675918"/>
            <a:ext cx="13254386" cy="481330"/>
          </a:xfrm>
          <a:prstGeom prst="rect">
            <a:avLst/>
          </a:prstGeom>
        </p:spPr>
        <p:txBody>
          <a:bodyPr anchor="t" rtlCol="false" tIns="0" lIns="0" bIns="0" rIns="0">
            <a:spAutoFit/>
          </a:bodyPr>
          <a:lstStyle/>
          <a:p>
            <a:pPr algn="l">
              <a:lnSpc>
                <a:spcPts val="3919"/>
              </a:lnSpc>
            </a:pPr>
            <a:r>
              <a:rPr lang="en-US" sz="2799">
                <a:solidFill>
                  <a:srgbClr val="000000"/>
                </a:solidFill>
                <a:latin typeface="Garet"/>
                <a:ea typeface="Garet"/>
                <a:cs typeface="Garet"/>
                <a:sym typeface="Garet"/>
              </a:rPr>
              <a:t>SKENARIO DAN HASIL PENGUJIAN</a:t>
            </a:r>
          </a:p>
        </p:txBody>
      </p:sp>
      <p:sp>
        <p:nvSpPr>
          <p:cNvPr name="TextBox 7" id="7"/>
          <p:cNvSpPr txBox="true"/>
          <p:nvPr/>
        </p:nvSpPr>
        <p:spPr>
          <a:xfrm rot="0">
            <a:off x="1028700" y="2100098"/>
            <a:ext cx="12420193" cy="9766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B</a:t>
            </a:r>
            <a:r>
              <a:rPr lang="en-US" sz="2799" spc="-221">
                <a:solidFill>
                  <a:srgbClr val="000000"/>
                </a:solidFill>
                <a:latin typeface="Garet"/>
                <a:ea typeface="Garet"/>
                <a:cs typeface="Garet"/>
                <a:sym typeface="Garet"/>
              </a:rPr>
              <a:t>erdasarkan eksekusi script validasi di SQL Server Management Studio (SSMS), berikut adalah rincian hasilnya:</a:t>
            </a:r>
          </a:p>
        </p:txBody>
      </p:sp>
      <p:sp>
        <p:nvSpPr>
          <p:cNvPr name="TextBox 8" id="8"/>
          <p:cNvSpPr txBox="true"/>
          <p:nvPr/>
        </p:nvSpPr>
        <p:spPr>
          <a:xfrm rot="0">
            <a:off x="9144000" y="3834551"/>
            <a:ext cx="7375612" cy="4443730"/>
          </a:xfrm>
          <a:prstGeom prst="rect">
            <a:avLst/>
          </a:prstGeom>
        </p:spPr>
        <p:txBody>
          <a:bodyPr anchor="t" rtlCol="false" tIns="0" lIns="0" bIns="0" rIns="0">
            <a:spAutoFit/>
          </a:bodyPr>
          <a:lstStyle/>
          <a:p>
            <a:pPr algn="l">
              <a:lnSpc>
                <a:spcPts val="3919"/>
              </a:lnSpc>
              <a:spcBef>
                <a:spcPct val="0"/>
              </a:spcBef>
            </a:pPr>
            <a:r>
              <a:rPr lang="en-US" sz="2799" spc="-221">
                <a:solidFill>
                  <a:srgbClr val="000000"/>
                </a:solidFill>
                <a:latin typeface="Garet"/>
                <a:ea typeface="Garet"/>
                <a:cs typeface="Garet"/>
                <a:sym typeface="Garet"/>
              </a:rPr>
              <a:t>KESIMPULAN</a:t>
            </a:r>
            <a:r>
              <a:rPr lang="en-US" sz="2799" spc="-221">
                <a:solidFill>
                  <a:srgbClr val="000000"/>
                </a:solidFill>
                <a:latin typeface="Garet"/>
                <a:ea typeface="Garet"/>
                <a:cs typeface="Garet"/>
                <a:sym typeface="Garet"/>
              </a:rPr>
              <a:t> AKHIR</a:t>
            </a:r>
          </a:p>
          <a:p>
            <a:pPr algn="l">
              <a:lnSpc>
                <a:spcPts val="3919"/>
              </a:lnSpc>
              <a:spcBef>
                <a:spcPct val="0"/>
              </a:spcBef>
            </a:pPr>
            <a:r>
              <a:rPr lang="en-US" sz="2799" spc="-221">
                <a:solidFill>
                  <a:srgbClr val="000000"/>
                </a:solidFill>
                <a:latin typeface="Garet"/>
                <a:ea typeface="Garet"/>
                <a:cs typeface="Garet"/>
                <a:sym typeface="Garet"/>
              </a:rPr>
              <a:t> Berdasarkan ketiga parameter pengujian  (Kelengkapan, Integritas, dan Validitas), proses ETL untuk modul Absensi dinyatakan SUKSES. Data di dalam Data Warehouse (Fact_Attendance) dikategorikan BERSIH (Clean) dan VALID untuk digunakan dalam proses analisis dan visualisasi lebih lanjut.</a:t>
            </a:r>
          </a:p>
          <a:p>
            <a:pPr algn="l">
              <a:lnSpc>
                <a:spcPts val="3919"/>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21033" y="5432059"/>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55110" y="2417347"/>
            <a:ext cx="9888332" cy="5648709"/>
          </a:xfrm>
          <a:custGeom>
            <a:avLst/>
            <a:gdLst/>
            <a:ahLst/>
            <a:cxnLst/>
            <a:rect r="r" b="b" t="t" l="l"/>
            <a:pathLst>
              <a:path h="5648709" w="9888332">
                <a:moveTo>
                  <a:pt x="0" y="0"/>
                </a:moveTo>
                <a:lnTo>
                  <a:pt x="9888331" y="0"/>
                </a:lnTo>
                <a:lnTo>
                  <a:pt x="9888331" y="5648709"/>
                </a:lnTo>
                <a:lnTo>
                  <a:pt x="0" y="5648709"/>
                </a:lnTo>
                <a:lnTo>
                  <a:pt x="0" y="0"/>
                </a:lnTo>
                <a:close/>
              </a:path>
            </a:pathLst>
          </a:custGeom>
          <a:blipFill>
            <a:blip r:embed="rId5"/>
            <a:stretch>
              <a:fillRect l="0" t="0" r="0" b="0"/>
            </a:stretch>
          </a:blipFill>
        </p:spPr>
      </p:sp>
      <p:sp>
        <p:nvSpPr>
          <p:cNvPr name="TextBox 5" id="5"/>
          <p:cNvSpPr txBox="true"/>
          <p:nvPr/>
        </p:nvSpPr>
        <p:spPr>
          <a:xfrm rot="0">
            <a:off x="550756" y="632842"/>
            <a:ext cx="7305075" cy="431292"/>
          </a:xfrm>
          <a:prstGeom prst="rect">
            <a:avLst/>
          </a:prstGeom>
        </p:spPr>
        <p:txBody>
          <a:bodyPr anchor="t" rtlCol="false" tIns="0" lIns="0" bIns="0" rIns="0">
            <a:spAutoFit/>
          </a:bodyPr>
          <a:lstStyle/>
          <a:p>
            <a:pPr algn="l" marL="0" indent="0" lvl="0">
              <a:lnSpc>
                <a:spcPts val="2964"/>
              </a:lnSpc>
              <a:spcBef>
                <a:spcPct val="0"/>
              </a:spcBef>
            </a:pPr>
            <a:r>
              <a:rPr lang="en-US" sz="3800" spc="-300">
                <a:solidFill>
                  <a:srgbClr val="000000"/>
                </a:solidFill>
                <a:latin typeface="Archivo Black"/>
                <a:ea typeface="Archivo Black"/>
                <a:cs typeface="Archivo Black"/>
                <a:sym typeface="Archivo Black"/>
              </a:rPr>
              <a:t>10 Hasil Deployment (PowerBI)</a:t>
            </a:r>
          </a:p>
        </p:txBody>
      </p:sp>
      <p:sp>
        <p:nvSpPr>
          <p:cNvPr name="Freeform 6" id="6"/>
          <p:cNvSpPr/>
          <p:nvPr/>
        </p:nvSpPr>
        <p:spPr>
          <a:xfrm flipH="false" flipV="false" rot="0">
            <a:off x="14874564" y="818228"/>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0786341" y="3685253"/>
            <a:ext cx="3493612" cy="3493612"/>
          </a:xfrm>
          <a:custGeom>
            <a:avLst/>
            <a:gdLst/>
            <a:ahLst/>
            <a:cxnLst/>
            <a:rect r="r" b="b" t="t" l="l"/>
            <a:pathLst>
              <a:path h="3493612" w="3493612">
                <a:moveTo>
                  <a:pt x="0" y="0"/>
                </a:moveTo>
                <a:lnTo>
                  <a:pt x="3493613" y="0"/>
                </a:lnTo>
                <a:lnTo>
                  <a:pt x="3493613" y="3493612"/>
                </a:lnTo>
                <a:lnTo>
                  <a:pt x="0" y="34936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648272" y="7989418"/>
            <a:ext cx="3090851" cy="1208242"/>
          </a:xfrm>
          <a:custGeom>
            <a:avLst/>
            <a:gdLst/>
            <a:ahLst/>
            <a:cxnLst/>
            <a:rect r="r" b="b" t="t" l="l"/>
            <a:pathLst>
              <a:path h="1208242" w="3090851">
                <a:moveTo>
                  <a:pt x="0" y="0"/>
                </a:moveTo>
                <a:lnTo>
                  <a:pt x="3090851" y="0"/>
                </a:lnTo>
                <a:lnTo>
                  <a:pt x="3090851" y="1208242"/>
                </a:lnTo>
                <a:lnTo>
                  <a:pt x="0" y="12082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0786341" y="1116118"/>
            <a:ext cx="3493612" cy="1759510"/>
          </a:xfrm>
          <a:custGeom>
            <a:avLst/>
            <a:gdLst/>
            <a:ahLst/>
            <a:cxnLst/>
            <a:rect r="r" b="b" t="t" l="l"/>
            <a:pathLst>
              <a:path h="1759510" w="3493612">
                <a:moveTo>
                  <a:pt x="0" y="0"/>
                </a:moveTo>
                <a:lnTo>
                  <a:pt x="3493613" y="0"/>
                </a:lnTo>
                <a:lnTo>
                  <a:pt x="3493613" y="1759510"/>
                </a:lnTo>
                <a:lnTo>
                  <a:pt x="0" y="17595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0786341" y="7989418"/>
            <a:ext cx="3493612" cy="1200532"/>
          </a:xfrm>
          <a:custGeom>
            <a:avLst/>
            <a:gdLst/>
            <a:ahLst/>
            <a:cxnLst/>
            <a:rect r="r" b="b" t="t" l="l"/>
            <a:pathLst>
              <a:path h="1200532" w="3493612">
                <a:moveTo>
                  <a:pt x="0" y="0"/>
                </a:moveTo>
                <a:lnTo>
                  <a:pt x="3493613" y="0"/>
                </a:lnTo>
                <a:lnTo>
                  <a:pt x="3493613" y="1200532"/>
                </a:lnTo>
                <a:lnTo>
                  <a:pt x="0" y="12005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555110" y="1614492"/>
            <a:ext cx="7300721" cy="381381"/>
          </a:xfrm>
          <a:prstGeom prst="rect">
            <a:avLst/>
          </a:prstGeom>
        </p:spPr>
        <p:txBody>
          <a:bodyPr anchor="t" rtlCol="false" tIns="0" lIns="0" bIns="0" rIns="0">
            <a:spAutoFit/>
          </a:bodyPr>
          <a:lstStyle/>
          <a:p>
            <a:pPr algn="l" marL="0" indent="0" lvl="0">
              <a:lnSpc>
                <a:spcPts val="2651"/>
              </a:lnSpc>
              <a:spcBef>
                <a:spcPct val="0"/>
              </a:spcBef>
            </a:pPr>
            <a:r>
              <a:rPr lang="en-US" sz="3399" spc="-268">
                <a:solidFill>
                  <a:srgbClr val="000000"/>
                </a:solidFill>
                <a:latin typeface="Garet"/>
                <a:ea typeface="Garet"/>
                <a:cs typeface="Garet"/>
                <a:sym typeface="Garet"/>
              </a:rPr>
              <a:t>DASHBOARD - EKSEKUTIF(HR REVIEW)</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311670" y="2355469"/>
            <a:ext cx="9884121" cy="5633949"/>
          </a:xfrm>
          <a:custGeom>
            <a:avLst/>
            <a:gdLst/>
            <a:ahLst/>
            <a:cxnLst/>
            <a:rect r="r" b="b" t="t" l="l"/>
            <a:pathLst>
              <a:path h="5633949" w="9884121">
                <a:moveTo>
                  <a:pt x="0" y="0"/>
                </a:moveTo>
                <a:lnTo>
                  <a:pt x="9884121" y="0"/>
                </a:lnTo>
                <a:lnTo>
                  <a:pt x="9884121" y="5633949"/>
                </a:lnTo>
                <a:lnTo>
                  <a:pt x="0" y="5633949"/>
                </a:lnTo>
                <a:lnTo>
                  <a:pt x="0" y="0"/>
                </a:lnTo>
                <a:close/>
              </a:path>
            </a:pathLst>
          </a:custGeom>
          <a:blipFill>
            <a:blip r:embed="rId3"/>
            <a:stretch>
              <a:fillRect l="0" t="0" r="0" b="0"/>
            </a:stretch>
          </a:blipFill>
        </p:spPr>
      </p:sp>
      <p:sp>
        <p:nvSpPr>
          <p:cNvPr name="TextBox 4" id="4"/>
          <p:cNvSpPr txBox="true"/>
          <p:nvPr/>
        </p:nvSpPr>
        <p:spPr>
          <a:xfrm rot="0">
            <a:off x="311670" y="1614492"/>
            <a:ext cx="8267202" cy="381381"/>
          </a:xfrm>
          <a:prstGeom prst="rect">
            <a:avLst/>
          </a:prstGeom>
        </p:spPr>
        <p:txBody>
          <a:bodyPr anchor="t" rtlCol="false" tIns="0" lIns="0" bIns="0" rIns="0">
            <a:spAutoFit/>
          </a:bodyPr>
          <a:lstStyle/>
          <a:p>
            <a:pPr algn="l" marL="0" indent="0" lvl="0">
              <a:lnSpc>
                <a:spcPts val="2651"/>
              </a:lnSpc>
              <a:spcBef>
                <a:spcPct val="0"/>
              </a:spcBef>
            </a:pPr>
            <a:r>
              <a:rPr lang="en-US" sz="3399" spc="-268">
                <a:solidFill>
                  <a:srgbClr val="000000"/>
                </a:solidFill>
                <a:latin typeface="Garet"/>
                <a:ea typeface="Garet"/>
                <a:cs typeface="Garet"/>
                <a:sym typeface="Garet"/>
              </a:rPr>
              <a:t>DASHBOARD -  OPERASIONAL (ABSENSI)</a:t>
            </a:r>
          </a:p>
        </p:txBody>
      </p:sp>
      <p:sp>
        <p:nvSpPr>
          <p:cNvPr name="TextBox 5" id="5"/>
          <p:cNvSpPr txBox="true"/>
          <p:nvPr/>
        </p:nvSpPr>
        <p:spPr>
          <a:xfrm rot="0">
            <a:off x="311670" y="884491"/>
            <a:ext cx="7795374" cy="431292"/>
          </a:xfrm>
          <a:prstGeom prst="rect">
            <a:avLst/>
          </a:prstGeom>
        </p:spPr>
        <p:txBody>
          <a:bodyPr anchor="t" rtlCol="false" tIns="0" lIns="0" bIns="0" rIns="0">
            <a:spAutoFit/>
          </a:bodyPr>
          <a:lstStyle/>
          <a:p>
            <a:pPr algn="l" marL="0" indent="0" lvl="0">
              <a:lnSpc>
                <a:spcPts val="2964"/>
              </a:lnSpc>
              <a:spcBef>
                <a:spcPct val="0"/>
              </a:spcBef>
            </a:pPr>
            <a:r>
              <a:rPr lang="en-US" sz="3800" spc="-300">
                <a:solidFill>
                  <a:srgbClr val="000000"/>
                </a:solidFill>
                <a:latin typeface="Archivo Black"/>
                <a:ea typeface="Archivo Black"/>
                <a:cs typeface="Archivo Black"/>
                <a:sym typeface="Archivo Black"/>
              </a:rPr>
              <a:t>10 Hasil Deployment (PowerBI)</a:t>
            </a:r>
          </a:p>
        </p:txBody>
      </p:sp>
      <p:sp>
        <p:nvSpPr>
          <p:cNvPr name="Freeform 6" id="6"/>
          <p:cNvSpPr/>
          <p:nvPr/>
        </p:nvSpPr>
        <p:spPr>
          <a:xfrm flipH="false" flipV="false" rot="0">
            <a:off x="10786341" y="3685253"/>
            <a:ext cx="3493612" cy="3493612"/>
          </a:xfrm>
          <a:custGeom>
            <a:avLst/>
            <a:gdLst/>
            <a:ahLst/>
            <a:cxnLst/>
            <a:rect r="r" b="b" t="t" l="l"/>
            <a:pathLst>
              <a:path h="3493612" w="3493612">
                <a:moveTo>
                  <a:pt x="0" y="0"/>
                </a:moveTo>
                <a:lnTo>
                  <a:pt x="3493613" y="0"/>
                </a:lnTo>
                <a:lnTo>
                  <a:pt x="3493613" y="3493612"/>
                </a:lnTo>
                <a:lnTo>
                  <a:pt x="0" y="3493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786341" y="1116118"/>
            <a:ext cx="3493612" cy="1759510"/>
          </a:xfrm>
          <a:custGeom>
            <a:avLst/>
            <a:gdLst/>
            <a:ahLst/>
            <a:cxnLst/>
            <a:rect r="r" b="b" t="t" l="l"/>
            <a:pathLst>
              <a:path h="1759510" w="3493612">
                <a:moveTo>
                  <a:pt x="0" y="0"/>
                </a:moveTo>
                <a:lnTo>
                  <a:pt x="3493613" y="0"/>
                </a:lnTo>
                <a:lnTo>
                  <a:pt x="3493613" y="1759510"/>
                </a:lnTo>
                <a:lnTo>
                  <a:pt x="0" y="17595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786341" y="7989418"/>
            <a:ext cx="3493612" cy="1200532"/>
          </a:xfrm>
          <a:custGeom>
            <a:avLst/>
            <a:gdLst/>
            <a:ahLst/>
            <a:cxnLst/>
            <a:rect r="r" b="b" t="t" l="l"/>
            <a:pathLst>
              <a:path h="1200532" w="3493612">
                <a:moveTo>
                  <a:pt x="0" y="0"/>
                </a:moveTo>
                <a:lnTo>
                  <a:pt x="3493613" y="0"/>
                </a:lnTo>
                <a:lnTo>
                  <a:pt x="3493613" y="1200532"/>
                </a:lnTo>
                <a:lnTo>
                  <a:pt x="0" y="12005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874564" y="818228"/>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4621033" y="5432059"/>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4648272" y="7989418"/>
            <a:ext cx="3090851" cy="1208242"/>
          </a:xfrm>
          <a:custGeom>
            <a:avLst/>
            <a:gdLst/>
            <a:ahLst/>
            <a:cxnLst/>
            <a:rect r="r" b="b" t="t" l="l"/>
            <a:pathLst>
              <a:path h="1208242" w="3090851">
                <a:moveTo>
                  <a:pt x="0" y="0"/>
                </a:moveTo>
                <a:lnTo>
                  <a:pt x="3090851" y="0"/>
                </a:lnTo>
                <a:lnTo>
                  <a:pt x="3090851" y="1208242"/>
                </a:lnTo>
                <a:lnTo>
                  <a:pt x="0" y="12082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311670" y="2324618"/>
            <a:ext cx="9978343" cy="5637764"/>
          </a:xfrm>
          <a:custGeom>
            <a:avLst/>
            <a:gdLst/>
            <a:ahLst/>
            <a:cxnLst/>
            <a:rect r="r" b="b" t="t" l="l"/>
            <a:pathLst>
              <a:path h="5637764" w="9978343">
                <a:moveTo>
                  <a:pt x="0" y="0"/>
                </a:moveTo>
                <a:lnTo>
                  <a:pt x="9978344" y="0"/>
                </a:lnTo>
                <a:lnTo>
                  <a:pt x="9978344" y="5637764"/>
                </a:lnTo>
                <a:lnTo>
                  <a:pt x="0" y="5637764"/>
                </a:lnTo>
                <a:lnTo>
                  <a:pt x="0" y="0"/>
                </a:lnTo>
                <a:close/>
              </a:path>
            </a:pathLst>
          </a:custGeom>
          <a:blipFill>
            <a:blip r:embed="rId3"/>
            <a:stretch>
              <a:fillRect l="0" t="0" r="0" b="0"/>
            </a:stretch>
          </a:blipFill>
        </p:spPr>
      </p:sp>
      <p:sp>
        <p:nvSpPr>
          <p:cNvPr name="TextBox 4" id="4"/>
          <p:cNvSpPr txBox="true"/>
          <p:nvPr/>
        </p:nvSpPr>
        <p:spPr>
          <a:xfrm rot="0">
            <a:off x="311670" y="884491"/>
            <a:ext cx="7795374" cy="431292"/>
          </a:xfrm>
          <a:prstGeom prst="rect">
            <a:avLst/>
          </a:prstGeom>
        </p:spPr>
        <p:txBody>
          <a:bodyPr anchor="t" rtlCol="false" tIns="0" lIns="0" bIns="0" rIns="0">
            <a:spAutoFit/>
          </a:bodyPr>
          <a:lstStyle/>
          <a:p>
            <a:pPr algn="l" marL="0" indent="0" lvl="0">
              <a:lnSpc>
                <a:spcPts val="2964"/>
              </a:lnSpc>
              <a:spcBef>
                <a:spcPct val="0"/>
              </a:spcBef>
            </a:pPr>
            <a:r>
              <a:rPr lang="en-US" sz="3800" spc="-300">
                <a:solidFill>
                  <a:srgbClr val="000000"/>
                </a:solidFill>
                <a:latin typeface="Archivo Black"/>
                <a:ea typeface="Archivo Black"/>
                <a:cs typeface="Archivo Black"/>
                <a:sym typeface="Archivo Black"/>
              </a:rPr>
              <a:t>10 Hasil Deployment (PowerBI)</a:t>
            </a:r>
          </a:p>
        </p:txBody>
      </p:sp>
      <p:sp>
        <p:nvSpPr>
          <p:cNvPr name="TextBox 5" id="5"/>
          <p:cNvSpPr txBox="true"/>
          <p:nvPr/>
        </p:nvSpPr>
        <p:spPr>
          <a:xfrm rot="0">
            <a:off x="311670" y="1614492"/>
            <a:ext cx="8267202" cy="714756"/>
          </a:xfrm>
          <a:prstGeom prst="rect">
            <a:avLst/>
          </a:prstGeom>
        </p:spPr>
        <p:txBody>
          <a:bodyPr anchor="t" rtlCol="false" tIns="0" lIns="0" bIns="0" rIns="0">
            <a:spAutoFit/>
          </a:bodyPr>
          <a:lstStyle/>
          <a:p>
            <a:pPr algn="l" marL="0" indent="0" lvl="0">
              <a:lnSpc>
                <a:spcPts val="2651"/>
              </a:lnSpc>
              <a:spcBef>
                <a:spcPct val="0"/>
              </a:spcBef>
            </a:pPr>
            <a:r>
              <a:rPr lang="en-US" sz="3399" spc="-268">
                <a:solidFill>
                  <a:srgbClr val="000000"/>
                </a:solidFill>
                <a:latin typeface="Garet"/>
                <a:ea typeface="Garet"/>
                <a:cs typeface="Garet"/>
                <a:sym typeface="Garet"/>
              </a:rPr>
              <a:t>DASHBOARD -  KINERJA (Performance)</a:t>
            </a:r>
          </a:p>
          <a:p>
            <a:pPr algn="l" marL="0" indent="0" lvl="0">
              <a:lnSpc>
                <a:spcPts val="2651"/>
              </a:lnSpc>
              <a:spcBef>
                <a:spcPct val="0"/>
              </a:spcBef>
            </a:pPr>
          </a:p>
        </p:txBody>
      </p:sp>
      <p:sp>
        <p:nvSpPr>
          <p:cNvPr name="Freeform 6" id="6"/>
          <p:cNvSpPr/>
          <p:nvPr/>
        </p:nvSpPr>
        <p:spPr>
          <a:xfrm flipH="false" flipV="false" rot="0">
            <a:off x="10786341" y="3685253"/>
            <a:ext cx="3493612" cy="3493612"/>
          </a:xfrm>
          <a:custGeom>
            <a:avLst/>
            <a:gdLst/>
            <a:ahLst/>
            <a:cxnLst/>
            <a:rect r="r" b="b" t="t" l="l"/>
            <a:pathLst>
              <a:path h="3493612" w="3493612">
                <a:moveTo>
                  <a:pt x="0" y="0"/>
                </a:moveTo>
                <a:lnTo>
                  <a:pt x="3493613" y="0"/>
                </a:lnTo>
                <a:lnTo>
                  <a:pt x="3493613" y="3493612"/>
                </a:lnTo>
                <a:lnTo>
                  <a:pt x="0" y="34936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786341" y="1116118"/>
            <a:ext cx="3493612" cy="1759510"/>
          </a:xfrm>
          <a:custGeom>
            <a:avLst/>
            <a:gdLst/>
            <a:ahLst/>
            <a:cxnLst/>
            <a:rect r="r" b="b" t="t" l="l"/>
            <a:pathLst>
              <a:path h="1759510" w="3493612">
                <a:moveTo>
                  <a:pt x="0" y="0"/>
                </a:moveTo>
                <a:lnTo>
                  <a:pt x="3493613" y="0"/>
                </a:lnTo>
                <a:lnTo>
                  <a:pt x="3493613" y="1759510"/>
                </a:lnTo>
                <a:lnTo>
                  <a:pt x="0" y="17595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786341" y="7989418"/>
            <a:ext cx="3493612" cy="1200532"/>
          </a:xfrm>
          <a:custGeom>
            <a:avLst/>
            <a:gdLst/>
            <a:ahLst/>
            <a:cxnLst/>
            <a:rect r="r" b="b" t="t" l="l"/>
            <a:pathLst>
              <a:path h="1200532" w="3493612">
                <a:moveTo>
                  <a:pt x="0" y="0"/>
                </a:moveTo>
                <a:lnTo>
                  <a:pt x="3493613" y="0"/>
                </a:lnTo>
                <a:lnTo>
                  <a:pt x="3493613" y="1200532"/>
                </a:lnTo>
                <a:lnTo>
                  <a:pt x="0" y="12005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4874564" y="818228"/>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4621033" y="5432059"/>
            <a:ext cx="3118091" cy="1706446"/>
          </a:xfrm>
          <a:custGeom>
            <a:avLst/>
            <a:gdLst/>
            <a:ahLst/>
            <a:cxnLst/>
            <a:rect r="r" b="b" t="t" l="l"/>
            <a:pathLst>
              <a:path h="1706446" w="3118091">
                <a:moveTo>
                  <a:pt x="0" y="0"/>
                </a:moveTo>
                <a:lnTo>
                  <a:pt x="3118090" y="0"/>
                </a:lnTo>
                <a:lnTo>
                  <a:pt x="3118090" y="1706446"/>
                </a:lnTo>
                <a:lnTo>
                  <a:pt x="0" y="170644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4648272" y="7989418"/>
            <a:ext cx="3090851" cy="1208242"/>
          </a:xfrm>
          <a:custGeom>
            <a:avLst/>
            <a:gdLst/>
            <a:ahLst/>
            <a:cxnLst/>
            <a:rect r="r" b="b" t="t" l="l"/>
            <a:pathLst>
              <a:path h="1208242" w="3090851">
                <a:moveTo>
                  <a:pt x="0" y="0"/>
                </a:moveTo>
                <a:lnTo>
                  <a:pt x="3090851" y="0"/>
                </a:lnTo>
                <a:lnTo>
                  <a:pt x="3090851" y="1208242"/>
                </a:lnTo>
                <a:lnTo>
                  <a:pt x="0" y="12082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771525" y="3190557"/>
            <a:ext cx="16744950" cy="3361691"/>
          </a:xfrm>
          <a:prstGeom prst="rect">
            <a:avLst/>
          </a:prstGeom>
        </p:spPr>
        <p:txBody>
          <a:bodyPr anchor="t" rtlCol="false" tIns="0" lIns="0" bIns="0" rIns="0">
            <a:spAutoFit/>
          </a:bodyPr>
          <a:lstStyle/>
          <a:p>
            <a:pPr algn="ctr" marL="0" indent="0" lvl="0">
              <a:lnSpc>
                <a:spcPts val="27334"/>
              </a:lnSpc>
              <a:spcBef>
                <a:spcPct val="0"/>
              </a:spcBef>
            </a:pPr>
            <a:r>
              <a:rPr lang="en-US" sz="19524" spc="-1542" u="none">
                <a:solidFill>
                  <a:srgbClr val="000000"/>
                </a:solidFill>
                <a:latin typeface="Archivo Black"/>
                <a:ea typeface="Archivo Black"/>
                <a:cs typeface="Archivo Black"/>
                <a:sym typeface="Archivo Black"/>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DAG498S107M</dc:identifier>
  <dcterms:modified xsi:type="dcterms:W3CDTF">2011-08-01T06:04:30Z</dcterms:modified>
  <cp:revision>1</cp:revision>
  <dc:title>mal</dc:title>
</cp:coreProperties>
</file>